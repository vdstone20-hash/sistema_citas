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66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4" y="1663445"/>
            <a:ext cx="10043795" cy="1183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7958" y="1785619"/>
            <a:ext cx="6494780" cy="2125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747474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Maven:</a:t>
            </a:r>
            <a:r>
              <a:rPr spc="-525" dirty="0"/>
              <a:t> </a:t>
            </a:r>
            <a:r>
              <a:rPr spc="-125" dirty="0"/>
              <a:t>Impulsando</a:t>
            </a:r>
            <a:r>
              <a:rPr spc="-525" dirty="0"/>
              <a:t> </a:t>
            </a:r>
            <a:r>
              <a:rPr spc="-25" dirty="0"/>
              <a:t>la</a:t>
            </a:r>
          </a:p>
          <a:p>
            <a:pPr marL="12700" marR="5080">
              <a:lnSpc>
                <a:spcPct val="104700"/>
              </a:lnSpc>
              <a:spcBef>
                <a:spcPts val="15"/>
              </a:spcBef>
            </a:pPr>
            <a:r>
              <a:rPr spc="-100" dirty="0"/>
              <a:t>Gestión</a:t>
            </a:r>
            <a:r>
              <a:rPr spc="-500" dirty="0"/>
              <a:t> </a:t>
            </a:r>
            <a:r>
              <a:rPr dirty="0"/>
              <a:t>de</a:t>
            </a:r>
            <a:r>
              <a:rPr spc="-495" dirty="0"/>
              <a:t> </a:t>
            </a:r>
            <a:r>
              <a:rPr spc="-110" dirty="0"/>
              <a:t>Proyectos </a:t>
            </a:r>
            <a:r>
              <a:rPr spc="-20" dirty="0"/>
              <a:t>Java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67958" y="4235882"/>
            <a:ext cx="7553325" cy="1132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8400"/>
              </a:lnSpc>
              <a:spcBef>
                <a:spcPts val="95"/>
              </a:spcBef>
            </a:pP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Descubre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cómo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Maven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revoluciona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la</a:t>
            </a:r>
            <a:r>
              <a:rPr sz="1750" spc="-9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gestión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proyectos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Java.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Desde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la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automatización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la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construcción</a:t>
            </a:r>
            <a:r>
              <a:rPr sz="1750" spc="-1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hasta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la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gestión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dependencias.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Aprende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a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estandarizar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 tus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proyectos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y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potenciar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la</a:t>
            </a:r>
            <a:r>
              <a:rPr sz="1750" spc="-8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productividad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tu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equipo.</a:t>
            </a:r>
            <a:endParaRPr sz="17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304" y="1154125"/>
            <a:ext cx="455930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¿Qué</a:t>
            </a:r>
            <a:r>
              <a:rPr spc="-535" dirty="0"/>
              <a:t> </a:t>
            </a:r>
            <a:r>
              <a:rPr dirty="0"/>
              <a:t>es</a:t>
            </a:r>
            <a:r>
              <a:rPr spc="-530" dirty="0"/>
              <a:t> </a:t>
            </a:r>
            <a:r>
              <a:rPr spc="-85" dirty="0"/>
              <a:t>Maven?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2449779"/>
            <a:ext cx="5993130" cy="317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0" dirty="0">
                <a:solidFill>
                  <a:srgbClr val="747474"/>
                </a:solidFill>
                <a:latin typeface="Courier New"/>
                <a:cs typeface="Courier New"/>
              </a:rPr>
              <a:t>Herramienta</a:t>
            </a:r>
            <a:r>
              <a:rPr sz="2200" spc="-254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Clave</a:t>
            </a:r>
            <a:endParaRPr sz="2200" dirty="0">
              <a:latin typeface="Courier New"/>
              <a:cs typeface="Courier New"/>
            </a:endParaRPr>
          </a:p>
          <a:p>
            <a:pPr marL="298450" marR="375920" indent="-285750">
              <a:lnSpc>
                <a:spcPct val="138300"/>
              </a:lnSpc>
              <a:spcBef>
                <a:spcPts val="1655"/>
              </a:spcBef>
              <a:buFont typeface="Arial" panose="020B0604020202020204" pitchFamily="34" charset="0"/>
              <a:buChar char="•"/>
            </a:pP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Maven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es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una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herramienta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gestión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y</a:t>
            </a:r>
            <a:r>
              <a:rPr sz="1750" spc="-8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comprensión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proyectos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Java.</a:t>
            </a:r>
            <a:endParaRPr lang="es-PE" sz="1750" spc="-20" dirty="0">
              <a:solidFill>
                <a:srgbClr val="747474"/>
              </a:solidFill>
              <a:latin typeface="Roboto"/>
              <a:cs typeface="Roboto"/>
            </a:endParaRPr>
          </a:p>
          <a:p>
            <a:pPr marL="298450" marR="375920" indent="-285750">
              <a:lnSpc>
                <a:spcPct val="138300"/>
              </a:lnSpc>
              <a:spcBef>
                <a:spcPts val="1655"/>
              </a:spcBef>
              <a:buFont typeface="Arial" panose="020B0604020202020204" pitchFamily="34" charset="0"/>
              <a:buChar char="•"/>
            </a:pP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Simplifica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los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procesos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construcción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y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gestión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dependencias.</a:t>
            </a:r>
            <a:endParaRPr sz="1750" dirty="0">
              <a:latin typeface="Roboto"/>
              <a:cs typeface="Roboto"/>
            </a:endParaRPr>
          </a:p>
          <a:p>
            <a:pPr marL="298450" marR="5080" indent="-285750">
              <a:lnSpc>
                <a:spcPct val="138300"/>
              </a:lnSpc>
              <a:spcBef>
                <a:spcPts val="1470"/>
              </a:spcBef>
              <a:buFont typeface="Arial" panose="020B0604020202020204" pitchFamily="34" charset="0"/>
              <a:buChar char="•"/>
            </a:pP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Desarrollada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por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Apache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Software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Foundation,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es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un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estándar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industrial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desde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2004.</a:t>
            </a:r>
            <a:endParaRPr sz="1750" dirty="0">
              <a:latin typeface="Roboto"/>
              <a:cs typeface="Roboto"/>
            </a:endParaRP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4434" y="762000"/>
            <a:ext cx="7322566" cy="4272661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D7E8308-A4A7-2F83-F792-CFA03EE12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205429"/>
              </p:ext>
            </p:extLst>
          </p:nvPr>
        </p:nvGraphicFramePr>
        <p:xfrm>
          <a:off x="6934200" y="5913120"/>
          <a:ext cx="6496050" cy="2297430"/>
        </p:xfrm>
        <a:graphic>
          <a:graphicData uri="http://schemas.openxmlformats.org/drawingml/2006/table">
            <a:tbl>
              <a:tblPr/>
              <a:tblGrid>
                <a:gridCol w="6496050">
                  <a:extLst>
                    <a:ext uri="{9D8B030D-6E8A-4147-A177-3AD203B41FA5}">
                      <a16:colId xmlns:a16="http://schemas.microsoft.com/office/drawing/2014/main" val="3206907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98450" marR="375920" indent="-285750" algn="just" fontAlgn="t">
                        <a:lnSpc>
                          <a:spcPct val="138300"/>
                        </a:lnSpc>
                        <a:spcBef>
                          <a:spcPts val="165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ES" sz="1750" spc="-25" dirty="0">
                          <a:solidFill>
                            <a:srgbClr val="747474"/>
                          </a:solidFill>
                          <a:latin typeface="Roboto"/>
                          <a:cs typeface="Roboto"/>
                        </a:rPr>
                        <a:t>Apache Maven es una herramienta de automatización y gestión de proyectos que permite administrar la construcción (</a:t>
                      </a:r>
                      <a:r>
                        <a:rPr lang="es-ES" sz="1750" spc="-25" dirty="0" err="1">
                          <a:solidFill>
                            <a:srgbClr val="747474"/>
                          </a:solidFill>
                          <a:latin typeface="Roboto"/>
                          <a:cs typeface="Roboto"/>
                        </a:rPr>
                        <a:t>Build</a:t>
                      </a:r>
                      <a:r>
                        <a:rPr lang="es-ES" sz="1750" spc="-25" dirty="0">
                          <a:solidFill>
                            <a:srgbClr val="747474"/>
                          </a:solidFill>
                          <a:latin typeface="Roboto"/>
                          <a:cs typeface="Roboto"/>
                        </a:rPr>
                        <a:t> Management), las dependencias, la documentación, las pruebas y el despliegue de aplicaciones.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270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04508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304" y="1154125"/>
            <a:ext cx="4559300" cy="13830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pc="-40" dirty="0"/>
              <a:t>Objetivos de </a:t>
            </a:r>
            <a:r>
              <a:rPr spc="-85" dirty="0"/>
              <a:t>Maven</a:t>
            </a: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4434" y="762000"/>
            <a:ext cx="7322566" cy="427266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B7406F2-6425-AB00-6326-3FF0ECB6A187}"/>
              </a:ext>
            </a:extLst>
          </p:cNvPr>
          <p:cNvSpPr txBox="1"/>
          <p:nvPr/>
        </p:nvSpPr>
        <p:spPr>
          <a:xfrm>
            <a:off x="647319" y="2971800"/>
            <a:ext cx="541020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es-ES" sz="2000" spc="-40" dirty="0">
                <a:solidFill>
                  <a:srgbClr val="747474"/>
                </a:solidFill>
                <a:latin typeface="Courier New"/>
                <a:ea typeface="+mj-ea"/>
                <a:cs typeface="Courier New"/>
              </a:rPr>
              <a:t>Los principales objetivos de Maven son:</a:t>
            </a:r>
          </a:p>
          <a:p>
            <a:pPr marL="1270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s-ES" sz="2000" spc="-40" dirty="0">
                <a:solidFill>
                  <a:srgbClr val="747474"/>
                </a:solidFill>
                <a:latin typeface="Courier New"/>
                <a:ea typeface="+mj-ea"/>
                <a:cs typeface="Courier New"/>
              </a:rPr>
              <a:t>Simplificar el proceso de construcción de software.</a:t>
            </a:r>
          </a:p>
          <a:p>
            <a:pPr marL="1270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s-ES" sz="2000" spc="-40" dirty="0">
                <a:solidFill>
                  <a:srgbClr val="747474"/>
                </a:solidFill>
                <a:latin typeface="Courier New"/>
                <a:ea typeface="+mj-ea"/>
                <a:cs typeface="Courier New"/>
              </a:rPr>
              <a:t>Gestionar dependencias automáticamente.</a:t>
            </a:r>
          </a:p>
          <a:p>
            <a:pPr marL="1270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s-ES" sz="2000" spc="-40" dirty="0">
                <a:solidFill>
                  <a:srgbClr val="747474"/>
                </a:solidFill>
                <a:latin typeface="Courier New"/>
                <a:ea typeface="+mj-ea"/>
                <a:cs typeface="Courier New"/>
              </a:rPr>
              <a:t>Unificar la estructura de proyectos.</a:t>
            </a:r>
          </a:p>
          <a:p>
            <a:pPr marL="1270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s-ES" sz="2000" spc="-40" dirty="0">
                <a:solidFill>
                  <a:srgbClr val="747474"/>
                </a:solidFill>
                <a:latin typeface="Courier New"/>
                <a:ea typeface="+mj-ea"/>
                <a:cs typeface="Courier New"/>
              </a:rPr>
              <a:t>Facilitar la reutilización de componentes.</a:t>
            </a:r>
          </a:p>
          <a:p>
            <a:pPr marL="1270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s-ES" sz="2000" spc="-40" dirty="0">
                <a:solidFill>
                  <a:srgbClr val="747474"/>
                </a:solidFill>
                <a:latin typeface="Courier New"/>
                <a:ea typeface="+mj-ea"/>
                <a:cs typeface="Courier New"/>
              </a:rPr>
              <a:t>Promover buenas prácticas de desarrollo.</a:t>
            </a:r>
          </a:p>
          <a:p>
            <a:pPr marL="1270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s-ES" sz="2000" spc="-40" dirty="0">
                <a:solidFill>
                  <a:srgbClr val="747474"/>
                </a:solidFill>
                <a:latin typeface="Courier New"/>
                <a:ea typeface="+mj-ea"/>
                <a:cs typeface="Courier New"/>
              </a:rPr>
              <a:t>Mejorar la productividad de los equipos de trabajo</a:t>
            </a:r>
            <a:endParaRPr lang="es-PE" sz="2000" spc="-40" dirty="0">
              <a:solidFill>
                <a:srgbClr val="747474"/>
              </a:solidFill>
              <a:latin typeface="Courier New"/>
              <a:ea typeface="+mj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3695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36575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34915" y="189611"/>
            <a:ext cx="681609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Arquitectura</a:t>
            </a:r>
            <a:r>
              <a:rPr spc="-470" dirty="0"/>
              <a:t> </a:t>
            </a:r>
            <a:r>
              <a:rPr dirty="0"/>
              <a:t>de</a:t>
            </a:r>
            <a:r>
              <a:rPr spc="-465" dirty="0"/>
              <a:t> </a:t>
            </a:r>
            <a:r>
              <a:rPr spc="-40" dirty="0"/>
              <a:t>Maven</a:t>
            </a:r>
          </a:p>
        </p:txBody>
      </p:sp>
      <p:pic>
        <p:nvPicPr>
          <p:cNvPr id="4" name="object 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1350" y="1956678"/>
            <a:ext cx="566978" cy="5056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85452" y="2566033"/>
            <a:ext cx="2600325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747474"/>
                </a:solidFill>
                <a:latin typeface="Courier New"/>
                <a:cs typeface="Courier New"/>
              </a:rPr>
              <a:t>POM</a:t>
            </a:r>
            <a:endParaRPr sz="2200" dirty="0">
              <a:latin typeface="Courier New"/>
              <a:cs typeface="Courier New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Modelo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Objeto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Proyecto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(POM)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define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la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estructura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y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configuración.</a:t>
            </a:r>
            <a:endParaRPr sz="1750" dirty="0">
              <a:latin typeface="Roboto"/>
              <a:cs typeface="Roboto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7AC59F-DB17-211F-0F6D-A76EFAAD0208}"/>
              </a:ext>
            </a:extLst>
          </p:cNvPr>
          <p:cNvSpPr txBox="1"/>
          <p:nvPr/>
        </p:nvSpPr>
        <p:spPr>
          <a:xfrm>
            <a:off x="4066402" y="992336"/>
            <a:ext cx="10259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La arquitectura de Maven está compuesta por varios elementos fundamentales: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61EE242-8912-E023-9D64-F0973E63DB87}"/>
              </a:ext>
            </a:extLst>
          </p:cNvPr>
          <p:cNvSpPr txBox="1"/>
          <p:nvPr/>
        </p:nvSpPr>
        <p:spPr>
          <a:xfrm>
            <a:off x="7010399" y="2112079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POM (Project </a:t>
            </a:r>
            <a:r>
              <a:rPr lang="es-ES" dirty="0" err="1"/>
              <a:t>Object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) es un archivo XML denominado:</a:t>
            </a:r>
            <a:endParaRPr lang="es-PE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E294517-E802-8BAD-D605-608F39FA02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195" r="42531" b="23862"/>
          <a:stretch/>
        </p:blipFill>
        <p:spPr>
          <a:xfrm>
            <a:off x="7963675" y="2855812"/>
            <a:ext cx="2944480" cy="369332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61B4D699-FFF6-3A4F-0DFC-8B4233B7C165}"/>
              </a:ext>
            </a:extLst>
          </p:cNvPr>
          <p:cNvSpPr txBox="1"/>
          <p:nvPr/>
        </p:nvSpPr>
        <p:spPr>
          <a:xfrm rot="10800000" flipV="1">
            <a:off x="4034914" y="4726321"/>
            <a:ext cx="617588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750" spc="-35" dirty="0">
                <a:solidFill>
                  <a:srgbClr val="747474"/>
                </a:solidFill>
                <a:latin typeface="Roboto"/>
                <a:cs typeface="Roboto"/>
              </a:rPr>
              <a:t>Este archivo constituye el núcleo del proyecto Maven, ya que almacena:</a:t>
            </a:r>
            <a:endParaRPr lang="es-PE" sz="1750" spc="-35" dirty="0">
              <a:solidFill>
                <a:srgbClr val="747474"/>
              </a:solidFill>
              <a:latin typeface="Roboto"/>
              <a:cs typeface="Roboto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D7F905F-01E5-4187-A586-A1CCF6920773}"/>
              </a:ext>
            </a:extLst>
          </p:cNvPr>
          <p:cNvSpPr txBox="1"/>
          <p:nvPr/>
        </p:nvSpPr>
        <p:spPr>
          <a:xfrm>
            <a:off x="4451350" y="5549543"/>
            <a:ext cx="36575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50" spc="-35" dirty="0">
                <a:solidFill>
                  <a:srgbClr val="747474"/>
                </a:solidFill>
                <a:latin typeface="Roboto"/>
                <a:cs typeface="Roboto"/>
              </a:rPr>
              <a:t>Información del proyecto.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50" spc="-35" dirty="0">
                <a:solidFill>
                  <a:srgbClr val="747474"/>
                </a:solidFill>
                <a:latin typeface="Roboto"/>
                <a:cs typeface="Roboto"/>
              </a:rPr>
              <a:t>Dependencias.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50" spc="-35" dirty="0" err="1">
                <a:solidFill>
                  <a:srgbClr val="747474"/>
                </a:solidFill>
                <a:latin typeface="Roboto"/>
                <a:cs typeface="Roboto"/>
              </a:rPr>
              <a:t>Plugins</a:t>
            </a:r>
            <a:r>
              <a:rPr lang="es-ES" sz="1750" spc="-35" dirty="0">
                <a:solidFill>
                  <a:srgbClr val="747474"/>
                </a:solidFill>
                <a:latin typeface="Roboto"/>
                <a:cs typeface="Roboto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50" spc="-35" dirty="0">
                <a:solidFill>
                  <a:srgbClr val="747474"/>
                </a:solidFill>
                <a:latin typeface="Roboto"/>
                <a:cs typeface="Roboto"/>
              </a:rPr>
              <a:t>Configuraciones.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50" spc="-35" dirty="0">
                <a:solidFill>
                  <a:srgbClr val="747474"/>
                </a:solidFill>
                <a:latin typeface="Roboto"/>
                <a:cs typeface="Roboto"/>
              </a:rPr>
              <a:t>Versiones.</a:t>
            </a:r>
            <a:endParaRPr lang="es-PE" sz="1750" spc="-35" dirty="0">
              <a:solidFill>
                <a:srgbClr val="747474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36575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34915" y="189611"/>
            <a:ext cx="681609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Arquitectura</a:t>
            </a:r>
            <a:r>
              <a:rPr spc="-470" dirty="0"/>
              <a:t> </a:t>
            </a:r>
            <a:r>
              <a:rPr dirty="0"/>
              <a:t>de</a:t>
            </a:r>
            <a:r>
              <a:rPr spc="-465" dirty="0"/>
              <a:t> </a:t>
            </a:r>
            <a:r>
              <a:rPr spc="-40" dirty="0"/>
              <a:t>Maven</a:t>
            </a:r>
          </a:p>
        </p:txBody>
      </p:sp>
      <p:pic>
        <p:nvPicPr>
          <p:cNvPr id="6" name="object 6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3152" y="1926031"/>
            <a:ext cx="566978" cy="5669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81086" y="2695448"/>
            <a:ext cx="2171700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Dependencias</a:t>
            </a:r>
            <a:endParaRPr sz="2200">
              <a:latin typeface="Courier New"/>
              <a:cs typeface="Courier New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Sistema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gestión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dependencias</a:t>
            </a:r>
            <a:r>
              <a:rPr sz="1750" spc="-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para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administrar</a:t>
            </a:r>
            <a:r>
              <a:rPr sz="1750" spc="-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librerías.</a:t>
            </a:r>
            <a:endParaRPr sz="1750">
              <a:latin typeface="Roboto"/>
              <a:cs typeface="Roboto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03910" y="1926031"/>
            <a:ext cx="429065" cy="56697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923269" y="2695448"/>
            <a:ext cx="2566670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Directorios</a:t>
            </a:r>
            <a:endParaRPr sz="2200">
              <a:latin typeface="Courier New"/>
              <a:cs typeface="Courier New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Estructura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directorios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estandarizada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para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organización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del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proyecto.</a:t>
            </a:r>
            <a:endParaRPr sz="1750">
              <a:latin typeface="Roboto"/>
              <a:cs typeface="Roboto"/>
            </a:endParaRPr>
          </a:p>
        </p:txBody>
      </p:sp>
      <p:pic>
        <p:nvPicPr>
          <p:cNvPr id="10" name="object 10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20307" y="4979492"/>
            <a:ext cx="429065" cy="56697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39158" y="5749544"/>
            <a:ext cx="263906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Plugins</a:t>
            </a:r>
            <a:endParaRPr sz="2200" dirty="0">
              <a:latin typeface="Courier New"/>
              <a:cs typeface="Courier New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Plugins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extensibles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para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tareas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como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compilación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y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pruebas.</a:t>
            </a:r>
            <a:endParaRPr sz="1750" dirty="0">
              <a:latin typeface="Roboto"/>
              <a:cs typeface="Roboto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7AC59F-DB17-211F-0F6D-A76EFAAD0208}"/>
              </a:ext>
            </a:extLst>
          </p:cNvPr>
          <p:cNvSpPr txBox="1"/>
          <p:nvPr/>
        </p:nvSpPr>
        <p:spPr>
          <a:xfrm>
            <a:off x="4066402" y="992336"/>
            <a:ext cx="10259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La arquitectura de Maven está compuesta por varios elementos fundamentales:</a:t>
            </a:r>
          </a:p>
        </p:txBody>
      </p:sp>
    </p:spTree>
    <p:extLst>
      <p:ext uri="{BB962C8B-B14F-4D97-AF65-F5344CB8AC3E}">
        <p14:creationId xmlns:p14="http://schemas.microsoft.com/office/powerpoint/2010/main" val="374910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43600" y="38100"/>
            <a:ext cx="7468743" cy="64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400"/>
              </a:lnSpc>
            </a:pPr>
            <a:r>
              <a:rPr sz="3200" spc="-40" dirty="0"/>
              <a:t>Ciclo</a:t>
            </a:r>
            <a:r>
              <a:rPr sz="3200" spc="-550" dirty="0"/>
              <a:t> </a:t>
            </a:r>
            <a:r>
              <a:rPr sz="3200" dirty="0"/>
              <a:t>de</a:t>
            </a:r>
            <a:r>
              <a:rPr sz="3200" spc="-535" dirty="0"/>
              <a:t> </a:t>
            </a:r>
            <a:r>
              <a:rPr sz="3200" spc="-10" dirty="0"/>
              <a:t>Vida</a:t>
            </a:r>
            <a:r>
              <a:rPr sz="3200" spc="-535" dirty="0"/>
              <a:t> </a:t>
            </a:r>
            <a:r>
              <a:rPr sz="3200" spc="-60" dirty="0"/>
              <a:t>de </a:t>
            </a:r>
            <a:r>
              <a:rPr sz="3200" spc="-45" dirty="0"/>
              <a:t>Construcción</a:t>
            </a:r>
            <a:endParaRPr sz="3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E008024-6CE9-7A83-6DB5-BA8D1C2EB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95398"/>
            <a:ext cx="829049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8429" y="304800"/>
            <a:ext cx="8069771" cy="1183639"/>
          </a:xfrm>
          <a:prstGeom prst="rect">
            <a:avLst/>
          </a:prstGeom>
        </p:spPr>
        <p:txBody>
          <a:bodyPr vert="horz" wrap="square" lIns="0" tIns="492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Gestión</a:t>
            </a:r>
            <a:r>
              <a:rPr spc="-500" dirty="0"/>
              <a:t> </a:t>
            </a:r>
            <a:r>
              <a:rPr dirty="0"/>
              <a:t>de</a:t>
            </a:r>
            <a:r>
              <a:rPr spc="-495" dirty="0"/>
              <a:t> </a:t>
            </a:r>
            <a:r>
              <a:rPr spc="-110" dirty="0"/>
              <a:t>Dependencias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93788" y="3490976"/>
            <a:ext cx="510540" cy="510540"/>
            <a:chOff x="793788" y="3490976"/>
            <a:chExt cx="510540" cy="510540"/>
          </a:xfrm>
        </p:grpSpPr>
        <p:sp>
          <p:nvSpPr>
            <p:cNvPr id="5" name="object 5"/>
            <p:cNvSpPr/>
            <p:nvPr/>
          </p:nvSpPr>
          <p:spPr>
            <a:xfrm>
              <a:off x="793788" y="3490976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76338" y="0"/>
                  </a:moveTo>
                  <a:lnTo>
                    <a:pt x="34023" y="0"/>
                  </a:lnTo>
                  <a:lnTo>
                    <a:pt x="20782" y="2674"/>
                  </a:lnTo>
                  <a:lnTo>
                    <a:pt x="9967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76376"/>
                  </a:lnTo>
                  <a:lnTo>
                    <a:pt x="2674" y="489624"/>
                  </a:lnTo>
                  <a:lnTo>
                    <a:pt x="9967" y="500443"/>
                  </a:lnTo>
                  <a:lnTo>
                    <a:pt x="20782" y="507738"/>
                  </a:lnTo>
                  <a:lnTo>
                    <a:pt x="34023" y="510413"/>
                  </a:lnTo>
                  <a:lnTo>
                    <a:pt x="476338" y="510413"/>
                  </a:lnTo>
                  <a:lnTo>
                    <a:pt x="489566" y="507738"/>
                  </a:lnTo>
                  <a:lnTo>
                    <a:pt x="500341" y="500443"/>
                  </a:lnTo>
                  <a:lnTo>
                    <a:pt x="507592" y="489624"/>
                  </a:lnTo>
                  <a:lnTo>
                    <a:pt x="510247" y="476376"/>
                  </a:lnTo>
                  <a:lnTo>
                    <a:pt x="510247" y="34036"/>
                  </a:lnTo>
                  <a:lnTo>
                    <a:pt x="507592" y="20788"/>
                  </a:lnTo>
                  <a:lnTo>
                    <a:pt x="500341" y="9969"/>
                  </a:lnTo>
                  <a:lnTo>
                    <a:pt x="489566" y="2674"/>
                  </a:lnTo>
                  <a:lnTo>
                    <a:pt x="47633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865" y="3533559"/>
              <a:ext cx="340156" cy="42528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18285" y="3466846"/>
            <a:ext cx="2781935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Centralizado</a:t>
            </a:r>
            <a:endParaRPr sz="2200" dirty="0">
              <a:latin typeface="Courier New"/>
              <a:cs typeface="Courier New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Accede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al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repositorio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central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9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Maven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para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librerías.</a:t>
            </a:r>
            <a:endParaRPr sz="175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85410" y="3490976"/>
            <a:ext cx="510540" cy="510540"/>
            <a:chOff x="4685410" y="3490976"/>
            <a:chExt cx="510540" cy="510540"/>
          </a:xfrm>
        </p:grpSpPr>
        <p:sp>
          <p:nvSpPr>
            <p:cNvPr id="9" name="object 9"/>
            <p:cNvSpPr/>
            <p:nvPr/>
          </p:nvSpPr>
          <p:spPr>
            <a:xfrm>
              <a:off x="4685410" y="3490976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39" h="510539">
                  <a:moveTo>
                    <a:pt x="476376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76376"/>
                  </a:lnTo>
                  <a:lnTo>
                    <a:pt x="2674" y="489624"/>
                  </a:lnTo>
                  <a:lnTo>
                    <a:pt x="9969" y="500443"/>
                  </a:lnTo>
                  <a:lnTo>
                    <a:pt x="20788" y="507738"/>
                  </a:lnTo>
                  <a:lnTo>
                    <a:pt x="34036" y="510413"/>
                  </a:lnTo>
                  <a:lnTo>
                    <a:pt x="476376" y="510413"/>
                  </a:lnTo>
                  <a:lnTo>
                    <a:pt x="489624" y="507738"/>
                  </a:lnTo>
                  <a:lnTo>
                    <a:pt x="500443" y="500443"/>
                  </a:lnTo>
                  <a:lnTo>
                    <a:pt x="507738" y="489624"/>
                  </a:lnTo>
                  <a:lnTo>
                    <a:pt x="510413" y="476376"/>
                  </a:lnTo>
                  <a:lnTo>
                    <a:pt x="510413" y="34036"/>
                  </a:lnTo>
                  <a:lnTo>
                    <a:pt x="507738" y="20788"/>
                  </a:lnTo>
                  <a:lnTo>
                    <a:pt x="500443" y="9969"/>
                  </a:lnTo>
                  <a:lnTo>
                    <a:pt x="489624" y="2674"/>
                  </a:lnTo>
                  <a:lnTo>
                    <a:pt x="47637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0500" y="3533559"/>
              <a:ext cx="340156" cy="42528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410327" y="3466846"/>
            <a:ext cx="2853055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Automático</a:t>
            </a:r>
            <a:endParaRPr sz="2200">
              <a:latin typeface="Courier New"/>
              <a:cs typeface="Courier New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Resuelve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dependencias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y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sus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dependencias</a:t>
            </a:r>
            <a:r>
              <a:rPr sz="1750" spc="-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transitivas.</a:t>
            </a:r>
            <a:endParaRPr sz="175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3788" y="5189220"/>
            <a:ext cx="510540" cy="510540"/>
            <a:chOff x="793788" y="5189220"/>
            <a:chExt cx="510540" cy="510540"/>
          </a:xfrm>
        </p:grpSpPr>
        <p:sp>
          <p:nvSpPr>
            <p:cNvPr id="13" name="object 13"/>
            <p:cNvSpPr/>
            <p:nvPr/>
          </p:nvSpPr>
          <p:spPr>
            <a:xfrm>
              <a:off x="793788" y="5189220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76338" y="0"/>
                  </a:moveTo>
                  <a:lnTo>
                    <a:pt x="34023" y="0"/>
                  </a:lnTo>
                  <a:lnTo>
                    <a:pt x="20782" y="2674"/>
                  </a:lnTo>
                  <a:lnTo>
                    <a:pt x="9967" y="9969"/>
                  </a:lnTo>
                  <a:lnTo>
                    <a:pt x="2674" y="20788"/>
                  </a:lnTo>
                  <a:lnTo>
                    <a:pt x="0" y="34035"/>
                  </a:lnTo>
                  <a:lnTo>
                    <a:pt x="0" y="476249"/>
                  </a:lnTo>
                  <a:lnTo>
                    <a:pt x="2674" y="489497"/>
                  </a:lnTo>
                  <a:lnTo>
                    <a:pt x="9967" y="500316"/>
                  </a:lnTo>
                  <a:lnTo>
                    <a:pt x="20782" y="507611"/>
                  </a:lnTo>
                  <a:lnTo>
                    <a:pt x="34023" y="510285"/>
                  </a:lnTo>
                  <a:lnTo>
                    <a:pt x="476338" y="510285"/>
                  </a:lnTo>
                  <a:lnTo>
                    <a:pt x="489566" y="507611"/>
                  </a:lnTo>
                  <a:lnTo>
                    <a:pt x="500341" y="500316"/>
                  </a:lnTo>
                  <a:lnTo>
                    <a:pt x="507592" y="489497"/>
                  </a:lnTo>
                  <a:lnTo>
                    <a:pt x="510247" y="476249"/>
                  </a:lnTo>
                  <a:lnTo>
                    <a:pt x="510247" y="34035"/>
                  </a:lnTo>
                  <a:lnTo>
                    <a:pt x="507592" y="20788"/>
                  </a:lnTo>
                  <a:lnTo>
                    <a:pt x="500341" y="9969"/>
                  </a:lnTo>
                  <a:lnTo>
                    <a:pt x="489566" y="2674"/>
                  </a:lnTo>
                  <a:lnTo>
                    <a:pt x="47633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865" y="5231676"/>
              <a:ext cx="340156" cy="42528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18285" y="5165216"/>
            <a:ext cx="5083810" cy="8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Versionado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Controla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versiones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librerías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para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evitar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conflictos.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83C4F24-EA34-3137-49B9-F9A395C25221}"/>
              </a:ext>
            </a:extLst>
          </p:cNvPr>
          <p:cNvSpPr txBox="1"/>
          <p:nvPr/>
        </p:nvSpPr>
        <p:spPr>
          <a:xfrm>
            <a:off x="371918" y="1666872"/>
            <a:ext cx="7891463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La gestión de dependencias permite que Maven descargue, instale y administre automáticamente las bibliotecas que necesita un proyecto Java.</a:t>
            </a:r>
            <a:endParaRPr lang="es-P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80073"/>
            <a:ext cx="14630399" cy="190887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3578" y="1885950"/>
            <a:ext cx="907478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-120" dirty="0">
                <a:solidFill>
                  <a:srgbClr val="747474"/>
                </a:solidFill>
                <a:latin typeface="Courier New"/>
                <a:cs typeface="Courier New"/>
              </a:rPr>
              <a:t>Estructura</a:t>
            </a:r>
            <a:r>
              <a:rPr sz="4450" spc="-509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r>
              <a:rPr sz="4450" dirty="0">
                <a:solidFill>
                  <a:srgbClr val="747474"/>
                </a:solidFill>
                <a:latin typeface="Courier New"/>
                <a:cs typeface="Courier New"/>
              </a:rPr>
              <a:t>de</a:t>
            </a:r>
            <a:r>
              <a:rPr sz="4450" spc="-500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r>
              <a:rPr sz="4450" spc="-110" dirty="0">
                <a:solidFill>
                  <a:srgbClr val="747474"/>
                </a:solidFill>
                <a:latin typeface="Courier New"/>
                <a:cs typeface="Courier New"/>
              </a:rPr>
              <a:t>Proyecto</a:t>
            </a:r>
            <a:r>
              <a:rPr sz="4450" spc="-495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r>
              <a:rPr sz="4450" spc="-10" dirty="0">
                <a:solidFill>
                  <a:srgbClr val="747474"/>
                </a:solidFill>
                <a:latin typeface="Courier New"/>
                <a:cs typeface="Courier New"/>
              </a:rPr>
              <a:t>Maven</a:t>
            </a:r>
            <a:endParaRPr sz="44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3051683"/>
            <a:ext cx="3710940" cy="1217930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src/main/java</a:t>
            </a:r>
            <a:endParaRPr sz="2200" dirty="0">
              <a:latin typeface="Courier New"/>
              <a:cs typeface="Courier New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Contiene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el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código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fuente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principal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del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proyecto.</a:t>
            </a:r>
            <a:endParaRPr sz="175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4669" y="2896870"/>
            <a:ext cx="3401060" cy="1217930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src/test/java</a:t>
            </a:r>
            <a:endParaRPr sz="2200" dirty="0">
              <a:latin typeface="Courier New"/>
              <a:cs typeface="Courier New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Almacena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las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pruebas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unitarias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del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proyecto.</a:t>
            </a:r>
            <a:endParaRPr sz="1750" dirty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09858" y="2896870"/>
            <a:ext cx="3488054" cy="1217930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pom.xml</a:t>
            </a:r>
            <a:endParaRPr sz="2200" dirty="0">
              <a:latin typeface="Courier New"/>
              <a:cs typeface="Courier New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Archivo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central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configuración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del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proyecto.</a:t>
            </a:r>
            <a:endParaRPr sz="1750" dirty="0">
              <a:latin typeface="Roboto"/>
              <a:cs typeface="Roboto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A6517044-EECE-EA6E-F135-920D171F193C}"/>
              </a:ext>
            </a:extLst>
          </p:cNvPr>
          <p:cNvSpPr txBox="1"/>
          <p:nvPr/>
        </p:nvSpPr>
        <p:spPr>
          <a:xfrm>
            <a:off x="452628" y="4953491"/>
            <a:ext cx="6195822" cy="2749214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2200" spc="-10" dirty="0" err="1">
                <a:solidFill>
                  <a:srgbClr val="747474"/>
                </a:solidFill>
                <a:latin typeface="Courier New"/>
                <a:cs typeface="Courier New"/>
              </a:rPr>
              <a:t>src</a:t>
            </a:r>
            <a:r>
              <a:rPr lang="es-PE" sz="2200" spc="-10" dirty="0">
                <a:solidFill>
                  <a:srgbClr val="747474"/>
                </a:solidFill>
                <a:latin typeface="Courier New"/>
                <a:cs typeface="Courier New"/>
              </a:rPr>
              <a:t>/</a:t>
            </a:r>
            <a:r>
              <a:rPr lang="es-PE" sz="2200" spc="-10" dirty="0" err="1">
                <a:solidFill>
                  <a:srgbClr val="747474"/>
                </a:solidFill>
                <a:latin typeface="Courier New"/>
                <a:cs typeface="Courier New"/>
              </a:rPr>
              <a:t>main</a:t>
            </a:r>
            <a:r>
              <a:rPr lang="es-PE" sz="2200" spc="-10" dirty="0">
                <a:solidFill>
                  <a:srgbClr val="747474"/>
                </a:solidFill>
                <a:latin typeface="Courier New"/>
                <a:cs typeface="Courier New"/>
              </a:rPr>
              <a:t>/</a:t>
            </a:r>
            <a:r>
              <a:rPr lang="es-PE" sz="2200" spc="-10" dirty="0" err="1">
                <a:solidFill>
                  <a:srgbClr val="747474"/>
                </a:solidFill>
                <a:latin typeface="Courier New"/>
                <a:cs typeface="Courier New"/>
              </a:rPr>
              <a:t>resources</a:t>
            </a:r>
            <a:endParaRPr lang="es-PE" sz="2200" spc="-10" dirty="0">
              <a:solidFill>
                <a:srgbClr val="747474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lang="es-ES" sz="1750" spc="-30" dirty="0">
                <a:solidFill>
                  <a:srgbClr val="747474"/>
                </a:solidFill>
                <a:latin typeface="Roboto"/>
                <a:cs typeface="Roboto"/>
              </a:rPr>
              <a:t>Contiene archivos de configuración y recursos:</a:t>
            </a:r>
          </a:p>
          <a:p>
            <a:pPr marL="12700" marR="5080" indent="-34290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ES" sz="1750" spc="-30" dirty="0" err="1">
                <a:solidFill>
                  <a:srgbClr val="747474"/>
                </a:solidFill>
                <a:latin typeface="Roboto"/>
                <a:cs typeface="Roboto"/>
              </a:rPr>
              <a:t>application.properties</a:t>
            </a:r>
            <a:endParaRPr lang="es-ES" sz="1750" spc="-30" dirty="0">
              <a:solidFill>
                <a:srgbClr val="747474"/>
              </a:solidFill>
              <a:latin typeface="Roboto"/>
              <a:cs typeface="Roboto"/>
            </a:endParaRPr>
          </a:p>
          <a:p>
            <a:pPr marL="12700" marR="5080" indent="-34290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ES" sz="1750" spc="-30" dirty="0" err="1">
                <a:solidFill>
                  <a:srgbClr val="747474"/>
                </a:solidFill>
                <a:latin typeface="Roboto"/>
                <a:cs typeface="Roboto"/>
              </a:rPr>
              <a:t>application.yml</a:t>
            </a:r>
            <a:endParaRPr lang="es-ES" sz="1750" spc="-30" dirty="0">
              <a:solidFill>
                <a:srgbClr val="747474"/>
              </a:solidFill>
              <a:latin typeface="Roboto"/>
              <a:cs typeface="Roboto"/>
            </a:endParaRPr>
          </a:p>
          <a:p>
            <a:pPr marL="12700" marR="5080" indent="-34290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ES" sz="1750" spc="-30" dirty="0">
                <a:solidFill>
                  <a:srgbClr val="747474"/>
                </a:solidFill>
                <a:latin typeface="Roboto"/>
                <a:cs typeface="Roboto"/>
              </a:rPr>
              <a:t>Imágenes</a:t>
            </a:r>
          </a:p>
          <a:p>
            <a:pPr marL="12700" marR="5080" indent="-34290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ES" sz="1750" spc="-30" dirty="0">
                <a:solidFill>
                  <a:srgbClr val="747474"/>
                </a:solidFill>
                <a:latin typeface="Roboto"/>
                <a:cs typeface="Roboto"/>
              </a:rPr>
              <a:t>archivos XML</a:t>
            </a:r>
            <a:endParaRPr sz="1750" spc="-30" dirty="0">
              <a:solidFill>
                <a:srgbClr val="747474"/>
              </a:solidFill>
              <a:latin typeface="Roboto"/>
              <a:cs typeface="Roboto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E7E4D7-6E70-81AE-3DA2-F89944662646}"/>
              </a:ext>
            </a:extLst>
          </p:cNvPr>
          <p:cNvSpPr txBox="1"/>
          <p:nvPr/>
        </p:nvSpPr>
        <p:spPr>
          <a:xfrm>
            <a:off x="8534400" y="4692428"/>
            <a:ext cx="4432938" cy="330244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lang="es-PE" sz="1750" spc="-25" dirty="0">
                <a:solidFill>
                  <a:srgbClr val="747474"/>
                </a:solidFill>
                <a:latin typeface="Roboto"/>
                <a:cs typeface="Roboto"/>
              </a:rPr>
              <a:t>Target</a:t>
            </a: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lang="es-PE" sz="1750" spc="-25" dirty="0">
                <a:solidFill>
                  <a:srgbClr val="747474"/>
                </a:solidFill>
                <a:latin typeface="Roboto"/>
                <a:cs typeface="Roboto"/>
              </a:rPr>
              <a:t>Directorio generado automáticamente por Maven que almacena:</a:t>
            </a:r>
          </a:p>
          <a:p>
            <a:pPr marL="12700" marR="5080" indent="-28575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PE" sz="1750" spc="-25" dirty="0">
                <a:solidFill>
                  <a:srgbClr val="747474"/>
                </a:solidFill>
                <a:latin typeface="Roboto"/>
                <a:cs typeface="Roboto"/>
              </a:rPr>
              <a:t>Archivos compilados (.</a:t>
            </a:r>
            <a:r>
              <a:rPr lang="es-PE" sz="1750" spc="-25" dirty="0" err="1">
                <a:solidFill>
                  <a:srgbClr val="747474"/>
                </a:solidFill>
                <a:latin typeface="Roboto"/>
                <a:cs typeface="Roboto"/>
              </a:rPr>
              <a:t>class</a:t>
            </a:r>
            <a:r>
              <a:rPr lang="es-PE" sz="1750" spc="-25" dirty="0">
                <a:solidFill>
                  <a:srgbClr val="747474"/>
                </a:solidFill>
                <a:latin typeface="Roboto"/>
                <a:cs typeface="Roboto"/>
              </a:rPr>
              <a:t>)</a:t>
            </a:r>
          </a:p>
          <a:p>
            <a:pPr marL="12700" marR="5080" indent="-28575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PE" sz="1750" spc="-25" dirty="0">
                <a:solidFill>
                  <a:srgbClr val="747474"/>
                </a:solidFill>
                <a:latin typeface="Roboto"/>
                <a:cs typeface="Roboto"/>
              </a:rPr>
              <a:t>JAR</a:t>
            </a:r>
          </a:p>
          <a:p>
            <a:pPr marL="12700" marR="5080" indent="-28575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PE" sz="1750" spc="-25" dirty="0">
                <a:solidFill>
                  <a:srgbClr val="747474"/>
                </a:solidFill>
                <a:latin typeface="Roboto"/>
                <a:cs typeface="Roboto"/>
              </a:rPr>
              <a:t>WAR</a:t>
            </a:r>
          </a:p>
          <a:p>
            <a:pPr marL="12700" marR="5080" indent="-285750">
              <a:lnSpc>
                <a:spcPct val="138400"/>
              </a:lnSpc>
              <a:spcBef>
                <a:spcPts val="935"/>
              </a:spcBef>
              <a:buFont typeface="Arial" panose="020B0604020202020204" pitchFamily="34" charset="0"/>
              <a:buChar char="•"/>
            </a:pPr>
            <a:r>
              <a:rPr lang="es-PE" sz="1750" spc="-25" dirty="0">
                <a:solidFill>
                  <a:srgbClr val="747474"/>
                </a:solidFill>
                <a:latin typeface="Roboto"/>
                <a:cs typeface="Roboto"/>
              </a:rPr>
              <a:t>Reportes de pruebas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5843" y="635562"/>
            <a:ext cx="10043795" cy="11836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Configuración</a:t>
            </a:r>
            <a:r>
              <a:rPr spc="-375" dirty="0"/>
              <a:t> </a:t>
            </a:r>
            <a:r>
              <a:rPr dirty="0"/>
              <a:t>y</a:t>
            </a:r>
            <a:r>
              <a:rPr spc="-380" dirty="0"/>
              <a:t> </a:t>
            </a:r>
            <a:r>
              <a:rPr spc="-105" dirty="0"/>
              <a:t>Personalización</a:t>
            </a:r>
          </a:p>
        </p:txBody>
      </p:sp>
      <p:sp>
        <p:nvSpPr>
          <p:cNvPr id="3" name="object 3"/>
          <p:cNvSpPr/>
          <p:nvPr/>
        </p:nvSpPr>
        <p:spPr>
          <a:xfrm>
            <a:off x="797306" y="2799412"/>
            <a:ext cx="2174240" cy="808355"/>
          </a:xfrm>
          <a:custGeom>
            <a:avLst/>
            <a:gdLst/>
            <a:ahLst/>
            <a:cxnLst/>
            <a:rect l="l" t="t" r="r" b="b"/>
            <a:pathLst>
              <a:path w="2174240" h="808354">
                <a:moveTo>
                  <a:pt x="2139657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773938"/>
                </a:lnTo>
                <a:lnTo>
                  <a:pt x="2674" y="787185"/>
                </a:lnTo>
                <a:lnTo>
                  <a:pt x="9967" y="798004"/>
                </a:lnTo>
                <a:lnTo>
                  <a:pt x="20782" y="805299"/>
                </a:lnTo>
                <a:lnTo>
                  <a:pt x="34023" y="807974"/>
                </a:lnTo>
                <a:lnTo>
                  <a:pt x="2139657" y="807974"/>
                </a:lnTo>
                <a:lnTo>
                  <a:pt x="2152905" y="805299"/>
                </a:lnTo>
                <a:lnTo>
                  <a:pt x="2163724" y="798004"/>
                </a:lnTo>
                <a:lnTo>
                  <a:pt x="2171018" y="787185"/>
                </a:lnTo>
                <a:lnTo>
                  <a:pt x="2173693" y="773938"/>
                </a:lnTo>
                <a:lnTo>
                  <a:pt x="2173693" y="34036"/>
                </a:lnTo>
                <a:lnTo>
                  <a:pt x="2171018" y="20788"/>
                </a:lnTo>
                <a:lnTo>
                  <a:pt x="2163724" y="9969"/>
                </a:lnTo>
                <a:lnTo>
                  <a:pt x="2152905" y="2674"/>
                </a:lnTo>
                <a:lnTo>
                  <a:pt x="213965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776476" y="2958583"/>
            <a:ext cx="215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solidFill>
                  <a:srgbClr val="747474"/>
                </a:solidFill>
                <a:latin typeface="Courier New"/>
                <a:cs typeface="Courier New"/>
              </a:rPr>
              <a:t>1</a:t>
            </a:r>
            <a:endParaRPr sz="25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1857" y="3082798"/>
            <a:ext cx="13119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0" dirty="0" err="1">
                <a:solidFill>
                  <a:srgbClr val="747474"/>
                </a:solidFill>
                <a:latin typeface="Courier New"/>
                <a:cs typeface="Courier New"/>
              </a:rPr>
              <a:t>Perfiles</a:t>
            </a:r>
            <a:r>
              <a:rPr lang="es-PE" sz="2200" spc="-60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0600" y="3642487"/>
            <a:ext cx="12732892" cy="45719"/>
          </a:xfrm>
          <a:custGeom>
            <a:avLst/>
            <a:gdLst/>
            <a:ahLst/>
            <a:cxnLst/>
            <a:rect l="l" t="t" r="r" b="b"/>
            <a:pathLst>
              <a:path w="10642600" h="15239">
                <a:moveTo>
                  <a:pt x="10638916" y="0"/>
                </a:moveTo>
                <a:lnTo>
                  <a:pt x="3429" y="0"/>
                </a:lnTo>
                <a:lnTo>
                  <a:pt x="0" y="3429"/>
                </a:lnTo>
                <a:lnTo>
                  <a:pt x="0" y="7620"/>
                </a:lnTo>
                <a:lnTo>
                  <a:pt x="0" y="11811"/>
                </a:lnTo>
                <a:lnTo>
                  <a:pt x="3429" y="15240"/>
                </a:lnTo>
                <a:lnTo>
                  <a:pt x="10638916" y="15240"/>
                </a:lnTo>
                <a:lnTo>
                  <a:pt x="10642345" y="11811"/>
                </a:lnTo>
                <a:lnTo>
                  <a:pt x="10642345" y="3429"/>
                </a:lnTo>
                <a:lnTo>
                  <a:pt x="1063891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3788" y="3801490"/>
            <a:ext cx="4347845" cy="808355"/>
          </a:xfrm>
          <a:custGeom>
            <a:avLst/>
            <a:gdLst/>
            <a:ahLst/>
            <a:cxnLst/>
            <a:rect l="l" t="t" r="r" b="b"/>
            <a:pathLst>
              <a:path w="4347845" h="808354">
                <a:moveTo>
                  <a:pt x="4313516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773938"/>
                </a:lnTo>
                <a:lnTo>
                  <a:pt x="2674" y="787185"/>
                </a:lnTo>
                <a:lnTo>
                  <a:pt x="9967" y="798004"/>
                </a:lnTo>
                <a:lnTo>
                  <a:pt x="20782" y="805299"/>
                </a:lnTo>
                <a:lnTo>
                  <a:pt x="34023" y="807974"/>
                </a:lnTo>
                <a:lnTo>
                  <a:pt x="4313516" y="807974"/>
                </a:lnTo>
                <a:lnTo>
                  <a:pt x="4326764" y="805299"/>
                </a:lnTo>
                <a:lnTo>
                  <a:pt x="4337583" y="798004"/>
                </a:lnTo>
                <a:lnTo>
                  <a:pt x="4344877" y="787185"/>
                </a:lnTo>
                <a:lnTo>
                  <a:pt x="4347552" y="773938"/>
                </a:lnTo>
                <a:lnTo>
                  <a:pt x="4347552" y="34036"/>
                </a:lnTo>
                <a:lnTo>
                  <a:pt x="4344877" y="20788"/>
                </a:lnTo>
                <a:lnTo>
                  <a:pt x="4337583" y="9969"/>
                </a:lnTo>
                <a:lnTo>
                  <a:pt x="4326764" y="2674"/>
                </a:lnTo>
                <a:lnTo>
                  <a:pt x="4313516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63342" y="4057853"/>
            <a:ext cx="215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solidFill>
                  <a:srgbClr val="747474"/>
                </a:solidFill>
                <a:latin typeface="Courier New"/>
                <a:cs typeface="Courier New"/>
              </a:rPr>
              <a:t>2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3802" y="3835404"/>
            <a:ext cx="6835903" cy="7021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0" dirty="0">
                <a:solidFill>
                  <a:srgbClr val="747474"/>
                </a:solidFill>
                <a:latin typeface="Courier New"/>
                <a:cs typeface="Courier New"/>
              </a:rPr>
              <a:t>Plugins</a:t>
            </a:r>
            <a:r>
              <a:rPr lang="es-PE" sz="2200" spc="-60" dirty="0">
                <a:solidFill>
                  <a:srgbClr val="747474"/>
                </a:solidFill>
                <a:latin typeface="Courier New"/>
                <a:cs typeface="Courier New"/>
              </a:rPr>
              <a:t> (Agregan funcionalidades de Maven)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PE" sz="2200" spc="-60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54752" y="4594225"/>
            <a:ext cx="8468995" cy="15240"/>
          </a:xfrm>
          <a:custGeom>
            <a:avLst/>
            <a:gdLst/>
            <a:ahLst/>
            <a:cxnLst/>
            <a:rect l="l" t="t" r="r" b="b"/>
            <a:pathLst>
              <a:path w="8468994" h="15239">
                <a:moveTo>
                  <a:pt x="8465058" y="0"/>
                </a:moveTo>
                <a:lnTo>
                  <a:pt x="3301" y="0"/>
                </a:lnTo>
                <a:lnTo>
                  <a:pt x="0" y="3428"/>
                </a:lnTo>
                <a:lnTo>
                  <a:pt x="0" y="7620"/>
                </a:lnTo>
                <a:lnTo>
                  <a:pt x="0" y="11811"/>
                </a:lnTo>
                <a:lnTo>
                  <a:pt x="3301" y="15239"/>
                </a:lnTo>
                <a:lnTo>
                  <a:pt x="8465058" y="15239"/>
                </a:lnTo>
                <a:lnTo>
                  <a:pt x="8468487" y="11811"/>
                </a:lnTo>
                <a:lnTo>
                  <a:pt x="8468487" y="3428"/>
                </a:lnTo>
                <a:lnTo>
                  <a:pt x="846505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788" y="4722876"/>
            <a:ext cx="6521450" cy="808355"/>
          </a:xfrm>
          <a:custGeom>
            <a:avLst/>
            <a:gdLst/>
            <a:ahLst/>
            <a:cxnLst/>
            <a:rect l="l" t="t" r="r" b="b"/>
            <a:pathLst>
              <a:path w="6521450" h="808354">
                <a:moveTo>
                  <a:pt x="6487375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773938"/>
                </a:lnTo>
                <a:lnTo>
                  <a:pt x="2674" y="787185"/>
                </a:lnTo>
                <a:lnTo>
                  <a:pt x="9967" y="798004"/>
                </a:lnTo>
                <a:lnTo>
                  <a:pt x="20782" y="805299"/>
                </a:lnTo>
                <a:lnTo>
                  <a:pt x="34023" y="807974"/>
                </a:lnTo>
                <a:lnTo>
                  <a:pt x="6487375" y="807974"/>
                </a:lnTo>
                <a:lnTo>
                  <a:pt x="6500623" y="805299"/>
                </a:lnTo>
                <a:lnTo>
                  <a:pt x="6511442" y="798004"/>
                </a:lnTo>
                <a:lnTo>
                  <a:pt x="6518736" y="787185"/>
                </a:lnTo>
                <a:lnTo>
                  <a:pt x="6521411" y="773938"/>
                </a:lnTo>
                <a:lnTo>
                  <a:pt x="6521411" y="34036"/>
                </a:lnTo>
                <a:lnTo>
                  <a:pt x="6518736" y="20788"/>
                </a:lnTo>
                <a:lnTo>
                  <a:pt x="6511442" y="9969"/>
                </a:lnTo>
                <a:lnTo>
                  <a:pt x="6500623" y="2674"/>
                </a:lnTo>
                <a:lnTo>
                  <a:pt x="6487375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50589" y="4979923"/>
            <a:ext cx="215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solidFill>
                  <a:srgbClr val="747474"/>
                </a:solidFill>
                <a:latin typeface="Courier New"/>
                <a:cs typeface="Courier New"/>
              </a:rPr>
              <a:t>3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29701" y="4641222"/>
            <a:ext cx="6948299" cy="102784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0" dirty="0" err="1">
                <a:solidFill>
                  <a:srgbClr val="747474"/>
                </a:solidFill>
                <a:latin typeface="Courier New"/>
                <a:cs typeface="Courier New"/>
              </a:rPr>
              <a:t>Entorno</a:t>
            </a:r>
            <a:r>
              <a:rPr lang="es-PE" sz="2200" spc="-60" dirty="0">
                <a:solidFill>
                  <a:srgbClr val="747474"/>
                </a:solidFill>
                <a:latin typeface="Courier New"/>
                <a:cs typeface="Courier New"/>
              </a:rPr>
              <a:t> (hace referencia a la configuración del ambiente de trabajo ) JAVA_HOME, MAVEN_HOME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1304" y="5724954"/>
            <a:ext cx="12555220" cy="7645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Maven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permite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adaptar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la</a:t>
            </a:r>
            <a:r>
              <a:rPr sz="1750" spc="-8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construcción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a</a:t>
            </a:r>
            <a:r>
              <a:rPr sz="1750" spc="-8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diferentes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necesidades.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Usa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perfiles,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gestiona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plugins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y</a:t>
            </a:r>
            <a:r>
              <a:rPr sz="1750" spc="-8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ajusta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configuraciones.</a:t>
            </a:r>
            <a:r>
              <a:rPr sz="1750" spc="-1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Extiende</a:t>
            </a:r>
            <a:endParaRPr sz="1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Maven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con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plugins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personalizados.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1ED24E-7CA8-5FF2-B6FF-1ADB64B09CEC}"/>
              </a:ext>
            </a:extLst>
          </p:cNvPr>
          <p:cNvSpPr txBox="1"/>
          <p:nvPr/>
        </p:nvSpPr>
        <p:spPr>
          <a:xfrm>
            <a:off x="4744592" y="2569072"/>
            <a:ext cx="9104504" cy="110799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12700" algn="just">
              <a:spcBef>
                <a:spcPts val="95"/>
              </a:spcBef>
            </a:pPr>
            <a:r>
              <a:rPr lang="es-ES" sz="2200" spc="-60" dirty="0">
                <a:solidFill>
                  <a:srgbClr val="747474"/>
                </a:solidFill>
                <a:latin typeface="Courier New"/>
                <a:cs typeface="Courier New"/>
              </a:rPr>
              <a:t>Los perfiles permiten usar distintas configuraciones según el entorno donde se ejecuta la aplicación.(desarrollo, pruebas , producción)</a:t>
            </a:r>
            <a:endParaRPr lang="es-PE" sz="2200" spc="-60" dirty="0">
              <a:solidFill>
                <a:srgbClr val="747474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Integración</a:t>
            </a:r>
            <a:r>
              <a:rPr spc="-535" dirty="0"/>
              <a:t> </a:t>
            </a:r>
            <a:r>
              <a:rPr dirty="0"/>
              <a:t>con</a:t>
            </a:r>
            <a:r>
              <a:rPr spc="-530" dirty="0"/>
              <a:t> </a:t>
            </a:r>
            <a:r>
              <a:rPr spc="-100" dirty="0"/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2753411"/>
            <a:ext cx="3460115" cy="11073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747474"/>
                </a:solidFill>
                <a:latin typeface="Courier New"/>
                <a:cs typeface="Courier New"/>
              </a:rPr>
              <a:t>IDEs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Soporte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para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Eclipse</a:t>
            </a:r>
            <a:r>
              <a:rPr sz="17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e</a:t>
            </a:r>
            <a:r>
              <a:rPr sz="17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IntelliJ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IDEA.</a:t>
            </a:r>
            <a:r>
              <a:rPr lang="es-PE" sz="1750" spc="-20" dirty="0">
                <a:solidFill>
                  <a:srgbClr val="747474"/>
                </a:solidFill>
                <a:latin typeface="Roboto"/>
                <a:cs typeface="Roboto"/>
              </a:rPr>
              <a:t> Visual Studio  </a:t>
            </a:r>
            <a:r>
              <a:rPr lang="es-PE" sz="1750" spc="-20" dirty="0" err="1">
                <a:solidFill>
                  <a:srgbClr val="747474"/>
                </a:solidFill>
                <a:latin typeface="Roboto"/>
                <a:cs typeface="Roboto"/>
              </a:rPr>
              <a:t>Code</a:t>
            </a:r>
            <a:endParaRPr sz="1750" dirty="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80388" y="2847084"/>
            <a:ext cx="3651885" cy="3651885"/>
            <a:chOff x="5489321" y="2869945"/>
            <a:chExt cx="3651885" cy="3651885"/>
          </a:xfrm>
        </p:grpSpPr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9321" y="2869945"/>
              <a:ext cx="1829690" cy="182975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88914" y="316966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463" y="0"/>
                  </a:moveTo>
                  <a:lnTo>
                    <a:pt x="237506" y="3712"/>
                  </a:lnTo>
                  <a:lnTo>
                    <a:pt x="193901" y="14459"/>
                  </a:lnTo>
                  <a:lnTo>
                    <a:pt x="153235" y="31656"/>
                  </a:lnTo>
                  <a:lnTo>
                    <a:pt x="116092" y="54717"/>
                  </a:lnTo>
                  <a:lnTo>
                    <a:pt x="83057" y="83058"/>
                  </a:lnTo>
                  <a:lnTo>
                    <a:pt x="54717" y="116092"/>
                  </a:lnTo>
                  <a:lnTo>
                    <a:pt x="31656" y="153235"/>
                  </a:lnTo>
                  <a:lnTo>
                    <a:pt x="14459" y="193901"/>
                  </a:lnTo>
                  <a:lnTo>
                    <a:pt x="3712" y="237506"/>
                  </a:lnTo>
                  <a:lnTo>
                    <a:pt x="0" y="283463"/>
                  </a:lnTo>
                  <a:lnTo>
                    <a:pt x="3712" y="329456"/>
                  </a:lnTo>
                  <a:lnTo>
                    <a:pt x="14459" y="373088"/>
                  </a:lnTo>
                  <a:lnTo>
                    <a:pt x="31656" y="413776"/>
                  </a:lnTo>
                  <a:lnTo>
                    <a:pt x="54717" y="450935"/>
                  </a:lnTo>
                  <a:lnTo>
                    <a:pt x="83057" y="483981"/>
                  </a:lnTo>
                  <a:lnTo>
                    <a:pt x="116092" y="512329"/>
                  </a:lnTo>
                  <a:lnTo>
                    <a:pt x="153235" y="535395"/>
                  </a:lnTo>
                  <a:lnTo>
                    <a:pt x="193901" y="552594"/>
                  </a:lnTo>
                  <a:lnTo>
                    <a:pt x="237506" y="563342"/>
                  </a:lnTo>
                  <a:lnTo>
                    <a:pt x="283463" y="567055"/>
                  </a:lnTo>
                  <a:lnTo>
                    <a:pt x="329456" y="563342"/>
                  </a:lnTo>
                  <a:lnTo>
                    <a:pt x="373088" y="552594"/>
                  </a:lnTo>
                  <a:lnTo>
                    <a:pt x="413776" y="535395"/>
                  </a:lnTo>
                  <a:lnTo>
                    <a:pt x="450935" y="512329"/>
                  </a:lnTo>
                  <a:lnTo>
                    <a:pt x="483981" y="483981"/>
                  </a:lnTo>
                  <a:lnTo>
                    <a:pt x="512329" y="450935"/>
                  </a:lnTo>
                  <a:lnTo>
                    <a:pt x="535395" y="413776"/>
                  </a:lnTo>
                  <a:lnTo>
                    <a:pt x="552594" y="373088"/>
                  </a:lnTo>
                  <a:lnTo>
                    <a:pt x="563342" y="329456"/>
                  </a:lnTo>
                  <a:lnTo>
                    <a:pt x="567055" y="283463"/>
                  </a:lnTo>
                  <a:lnTo>
                    <a:pt x="563342" y="237506"/>
                  </a:lnTo>
                  <a:lnTo>
                    <a:pt x="552594" y="193901"/>
                  </a:lnTo>
                  <a:lnTo>
                    <a:pt x="535395" y="153235"/>
                  </a:lnTo>
                  <a:lnTo>
                    <a:pt x="512329" y="116092"/>
                  </a:lnTo>
                  <a:lnTo>
                    <a:pt x="483981" y="83058"/>
                  </a:lnTo>
                  <a:lnTo>
                    <a:pt x="450935" y="54717"/>
                  </a:lnTo>
                  <a:lnTo>
                    <a:pt x="413776" y="31656"/>
                  </a:lnTo>
                  <a:lnTo>
                    <a:pt x="373088" y="14459"/>
                  </a:lnTo>
                  <a:lnTo>
                    <a:pt x="329456" y="3712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4743" y="3293668"/>
              <a:ext cx="255155" cy="318973"/>
            </a:xfrm>
            <a:prstGeom prst="rect">
              <a:avLst/>
            </a:prstGeom>
          </p:spPr>
        </p:pic>
        <p:pic>
          <p:nvPicPr>
            <p:cNvPr id="8" name="object 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9321" y="2869945"/>
              <a:ext cx="3651757" cy="36518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74431" y="316966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464" y="0"/>
                  </a:moveTo>
                  <a:lnTo>
                    <a:pt x="237475" y="3712"/>
                  </a:lnTo>
                  <a:lnTo>
                    <a:pt x="193852" y="14459"/>
                  </a:lnTo>
                  <a:lnTo>
                    <a:pt x="153179" y="31656"/>
                  </a:lnTo>
                  <a:lnTo>
                    <a:pt x="116037" y="54717"/>
                  </a:lnTo>
                  <a:lnTo>
                    <a:pt x="83010" y="83058"/>
                  </a:lnTo>
                  <a:lnTo>
                    <a:pt x="54681" y="116092"/>
                  </a:lnTo>
                  <a:lnTo>
                    <a:pt x="31632" y="153235"/>
                  </a:lnTo>
                  <a:lnTo>
                    <a:pt x="14447" y="193901"/>
                  </a:lnTo>
                  <a:lnTo>
                    <a:pt x="3709" y="237506"/>
                  </a:lnTo>
                  <a:lnTo>
                    <a:pt x="0" y="283463"/>
                  </a:lnTo>
                  <a:lnTo>
                    <a:pt x="3709" y="329456"/>
                  </a:lnTo>
                  <a:lnTo>
                    <a:pt x="14447" y="373088"/>
                  </a:lnTo>
                  <a:lnTo>
                    <a:pt x="31632" y="413776"/>
                  </a:lnTo>
                  <a:lnTo>
                    <a:pt x="54681" y="450935"/>
                  </a:lnTo>
                  <a:lnTo>
                    <a:pt x="83010" y="483981"/>
                  </a:lnTo>
                  <a:lnTo>
                    <a:pt x="116037" y="512329"/>
                  </a:lnTo>
                  <a:lnTo>
                    <a:pt x="153179" y="535395"/>
                  </a:lnTo>
                  <a:lnTo>
                    <a:pt x="193852" y="552594"/>
                  </a:lnTo>
                  <a:lnTo>
                    <a:pt x="237475" y="563342"/>
                  </a:lnTo>
                  <a:lnTo>
                    <a:pt x="283464" y="567055"/>
                  </a:lnTo>
                  <a:lnTo>
                    <a:pt x="329421" y="563342"/>
                  </a:lnTo>
                  <a:lnTo>
                    <a:pt x="373026" y="552594"/>
                  </a:lnTo>
                  <a:lnTo>
                    <a:pt x="413692" y="535395"/>
                  </a:lnTo>
                  <a:lnTo>
                    <a:pt x="450835" y="512329"/>
                  </a:lnTo>
                  <a:lnTo>
                    <a:pt x="483870" y="483981"/>
                  </a:lnTo>
                  <a:lnTo>
                    <a:pt x="512210" y="450935"/>
                  </a:lnTo>
                  <a:lnTo>
                    <a:pt x="535271" y="413776"/>
                  </a:lnTo>
                  <a:lnTo>
                    <a:pt x="552468" y="373088"/>
                  </a:lnTo>
                  <a:lnTo>
                    <a:pt x="563215" y="329456"/>
                  </a:lnTo>
                  <a:lnTo>
                    <a:pt x="566927" y="283463"/>
                  </a:lnTo>
                  <a:lnTo>
                    <a:pt x="563215" y="237506"/>
                  </a:lnTo>
                  <a:lnTo>
                    <a:pt x="552468" y="193901"/>
                  </a:lnTo>
                  <a:lnTo>
                    <a:pt x="535271" y="153235"/>
                  </a:lnTo>
                  <a:lnTo>
                    <a:pt x="512210" y="116092"/>
                  </a:lnTo>
                  <a:lnTo>
                    <a:pt x="483870" y="83058"/>
                  </a:lnTo>
                  <a:lnTo>
                    <a:pt x="450835" y="54717"/>
                  </a:lnTo>
                  <a:lnTo>
                    <a:pt x="413692" y="31656"/>
                  </a:lnTo>
                  <a:lnTo>
                    <a:pt x="373026" y="14459"/>
                  </a:lnTo>
                  <a:lnTo>
                    <a:pt x="329421" y="3712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30260" y="3293668"/>
              <a:ext cx="255155" cy="318973"/>
            </a:xfrm>
            <a:prstGeom prst="rect">
              <a:avLst/>
            </a:prstGeom>
          </p:spPr>
        </p:pic>
        <p:pic>
          <p:nvPicPr>
            <p:cNvPr id="11" name="object 11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9321" y="2869945"/>
              <a:ext cx="3651757" cy="36518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74431" y="565505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464" y="0"/>
                  </a:moveTo>
                  <a:lnTo>
                    <a:pt x="237475" y="3712"/>
                  </a:lnTo>
                  <a:lnTo>
                    <a:pt x="193852" y="14460"/>
                  </a:lnTo>
                  <a:lnTo>
                    <a:pt x="153179" y="31659"/>
                  </a:lnTo>
                  <a:lnTo>
                    <a:pt x="116037" y="54725"/>
                  </a:lnTo>
                  <a:lnTo>
                    <a:pt x="83010" y="83073"/>
                  </a:lnTo>
                  <a:lnTo>
                    <a:pt x="54681" y="116119"/>
                  </a:lnTo>
                  <a:lnTo>
                    <a:pt x="31632" y="153278"/>
                  </a:lnTo>
                  <a:lnTo>
                    <a:pt x="14447" y="193966"/>
                  </a:lnTo>
                  <a:lnTo>
                    <a:pt x="3709" y="237598"/>
                  </a:lnTo>
                  <a:lnTo>
                    <a:pt x="0" y="283591"/>
                  </a:lnTo>
                  <a:lnTo>
                    <a:pt x="3709" y="329548"/>
                  </a:lnTo>
                  <a:lnTo>
                    <a:pt x="14447" y="373153"/>
                  </a:lnTo>
                  <a:lnTo>
                    <a:pt x="31632" y="413819"/>
                  </a:lnTo>
                  <a:lnTo>
                    <a:pt x="54681" y="450962"/>
                  </a:lnTo>
                  <a:lnTo>
                    <a:pt x="83010" y="483997"/>
                  </a:lnTo>
                  <a:lnTo>
                    <a:pt x="116037" y="512337"/>
                  </a:lnTo>
                  <a:lnTo>
                    <a:pt x="153179" y="535398"/>
                  </a:lnTo>
                  <a:lnTo>
                    <a:pt x="193852" y="552595"/>
                  </a:lnTo>
                  <a:lnTo>
                    <a:pt x="237475" y="563342"/>
                  </a:lnTo>
                  <a:lnTo>
                    <a:pt x="283464" y="567055"/>
                  </a:lnTo>
                  <a:lnTo>
                    <a:pt x="329421" y="563342"/>
                  </a:lnTo>
                  <a:lnTo>
                    <a:pt x="373026" y="552595"/>
                  </a:lnTo>
                  <a:lnTo>
                    <a:pt x="413692" y="535398"/>
                  </a:lnTo>
                  <a:lnTo>
                    <a:pt x="450835" y="512337"/>
                  </a:lnTo>
                  <a:lnTo>
                    <a:pt x="483870" y="483997"/>
                  </a:lnTo>
                  <a:lnTo>
                    <a:pt x="512210" y="450962"/>
                  </a:lnTo>
                  <a:lnTo>
                    <a:pt x="535271" y="413819"/>
                  </a:lnTo>
                  <a:lnTo>
                    <a:pt x="552468" y="373153"/>
                  </a:lnTo>
                  <a:lnTo>
                    <a:pt x="563215" y="329548"/>
                  </a:lnTo>
                  <a:lnTo>
                    <a:pt x="566927" y="283591"/>
                  </a:lnTo>
                  <a:lnTo>
                    <a:pt x="563215" y="237598"/>
                  </a:lnTo>
                  <a:lnTo>
                    <a:pt x="552468" y="193966"/>
                  </a:lnTo>
                  <a:lnTo>
                    <a:pt x="535271" y="153278"/>
                  </a:lnTo>
                  <a:lnTo>
                    <a:pt x="512210" y="116119"/>
                  </a:lnTo>
                  <a:lnTo>
                    <a:pt x="483870" y="83073"/>
                  </a:lnTo>
                  <a:lnTo>
                    <a:pt x="450835" y="54725"/>
                  </a:lnTo>
                  <a:lnTo>
                    <a:pt x="413692" y="31659"/>
                  </a:lnTo>
                  <a:lnTo>
                    <a:pt x="373026" y="14460"/>
                  </a:lnTo>
                  <a:lnTo>
                    <a:pt x="329421" y="3712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0260" y="5779058"/>
              <a:ext cx="255155" cy="318973"/>
            </a:xfrm>
            <a:prstGeom prst="rect">
              <a:avLst/>
            </a:prstGeom>
          </p:spPr>
        </p:pic>
        <p:pic>
          <p:nvPicPr>
            <p:cNvPr id="14" name="object 14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89321" y="2869945"/>
              <a:ext cx="3651757" cy="365188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788914" y="565505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463" y="0"/>
                  </a:moveTo>
                  <a:lnTo>
                    <a:pt x="237506" y="3712"/>
                  </a:lnTo>
                  <a:lnTo>
                    <a:pt x="193901" y="14460"/>
                  </a:lnTo>
                  <a:lnTo>
                    <a:pt x="153235" y="31659"/>
                  </a:lnTo>
                  <a:lnTo>
                    <a:pt x="116092" y="54725"/>
                  </a:lnTo>
                  <a:lnTo>
                    <a:pt x="83058" y="83073"/>
                  </a:lnTo>
                  <a:lnTo>
                    <a:pt x="54717" y="116119"/>
                  </a:lnTo>
                  <a:lnTo>
                    <a:pt x="31656" y="153278"/>
                  </a:lnTo>
                  <a:lnTo>
                    <a:pt x="14459" y="193966"/>
                  </a:lnTo>
                  <a:lnTo>
                    <a:pt x="3712" y="237598"/>
                  </a:lnTo>
                  <a:lnTo>
                    <a:pt x="0" y="283591"/>
                  </a:lnTo>
                  <a:lnTo>
                    <a:pt x="3712" y="329548"/>
                  </a:lnTo>
                  <a:lnTo>
                    <a:pt x="14459" y="373153"/>
                  </a:lnTo>
                  <a:lnTo>
                    <a:pt x="31656" y="413819"/>
                  </a:lnTo>
                  <a:lnTo>
                    <a:pt x="54717" y="450962"/>
                  </a:lnTo>
                  <a:lnTo>
                    <a:pt x="83057" y="483997"/>
                  </a:lnTo>
                  <a:lnTo>
                    <a:pt x="116092" y="512337"/>
                  </a:lnTo>
                  <a:lnTo>
                    <a:pt x="153235" y="535398"/>
                  </a:lnTo>
                  <a:lnTo>
                    <a:pt x="193901" y="552595"/>
                  </a:lnTo>
                  <a:lnTo>
                    <a:pt x="237506" y="563342"/>
                  </a:lnTo>
                  <a:lnTo>
                    <a:pt x="283463" y="567055"/>
                  </a:lnTo>
                  <a:lnTo>
                    <a:pt x="329456" y="563342"/>
                  </a:lnTo>
                  <a:lnTo>
                    <a:pt x="373088" y="552595"/>
                  </a:lnTo>
                  <a:lnTo>
                    <a:pt x="413776" y="535398"/>
                  </a:lnTo>
                  <a:lnTo>
                    <a:pt x="450935" y="512337"/>
                  </a:lnTo>
                  <a:lnTo>
                    <a:pt x="483981" y="483997"/>
                  </a:lnTo>
                  <a:lnTo>
                    <a:pt x="512329" y="450962"/>
                  </a:lnTo>
                  <a:lnTo>
                    <a:pt x="535395" y="413819"/>
                  </a:lnTo>
                  <a:lnTo>
                    <a:pt x="552594" y="373153"/>
                  </a:lnTo>
                  <a:lnTo>
                    <a:pt x="563342" y="329548"/>
                  </a:lnTo>
                  <a:lnTo>
                    <a:pt x="567055" y="283591"/>
                  </a:lnTo>
                  <a:lnTo>
                    <a:pt x="563342" y="237598"/>
                  </a:lnTo>
                  <a:lnTo>
                    <a:pt x="552594" y="193966"/>
                  </a:lnTo>
                  <a:lnTo>
                    <a:pt x="535395" y="153278"/>
                  </a:lnTo>
                  <a:lnTo>
                    <a:pt x="512329" y="116119"/>
                  </a:lnTo>
                  <a:lnTo>
                    <a:pt x="483981" y="83073"/>
                  </a:lnTo>
                  <a:lnTo>
                    <a:pt x="450935" y="54725"/>
                  </a:lnTo>
                  <a:lnTo>
                    <a:pt x="413776" y="31659"/>
                  </a:lnTo>
                  <a:lnTo>
                    <a:pt x="373088" y="14460"/>
                  </a:lnTo>
                  <a:lnTo>
                    <a:pt x="329456" y="3712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4743" y="5779058"/>
              <a:ext cx="255155" cy="31897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505888" y="2544666"/>
            <a:ext cx="3777615" cy="12172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747474"/>
                </a:solidFill>
                <a:latin typeface="Courier New"/>
                <a:cs typeface="Courier New"/>
              </a:rPr>
              <a:t>VCS</a:t>
            </a:r>
            <a:endParaRPr sz="2200" dirty="0">
              <a:latin typeface="Courier New"/>
              <a:cs typeface="Courier New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Integración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con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sistemas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control</a:t>
            </a:r>
            <a:r>
              <a:rPr sz="17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747474"/>
                </a:solidFill>
                <a:latin typeface="Roboto"/>
                <a:cs typeface="Roboto"/>
              </a:rPr>
              <a:t>de </a:t>
            </a:r>
            <a:r>
              <a:rPr sz="1750" spc="-10" dirty="0" err="1">
                <a:solidFill>
                  <a:srgbClr val="747474"/>
                </a:solidFill>
                <a:latin typeface="Roboto"/>
                <a:cs typeface="Roboto"/>
              </a:rPr>
              <a:t>versiones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.</a:t>
            </a:r>
            <a:r>
              <a:rPr lang="es-PE" sz="1750" spc="-10" dirty="0">
                <a:solidFill>
                  <a:srgbClr val="747474"/>
                </a:solidFill>
                <a:latin typeface="Roboto"/>
                <a:cs typeface="Roboto"/>
              </a:rPr>
              <a:t>(</a:t>
            </a:r>
            <a:r>
              <a:rPr lang="es-PE" sz="1750" spc="-10" dirty="0" err="1">
                <a:solidFill>
                  <a:srgbClr val="747474"/>
                </a:solidFill>
                <a:latin typeface="Roboto"/>
                <a:cs typeface="Roboto"/>
              </a:rPr>
              <a:t>git</a:t>
            </a:r>
            <a:r>
              <a:rPr lang="es-PE" sz="1750" spc="-10" dirty="0">
                <a:solidFill>
                  <a:srgbClr val="747474"/>
                </a:solidFill>
                <a:latin typeface="Roboto"/>
                <a:cs typeface="Roboto"/>
              </a:rPr>
              <a:t>, GitHub, </a:t>
            </a:r>
            <a:r>
              <a:rPr lang="es-PE" sz="1750" spc="-10" dirty="0" err="1">
                <a:solidFill>
                  <a:srgbClr val="747474"/>
                </a:solidFill>
                <a:latin typeface="Roboto"/>
                <a:cs typeface="Roboto"/>
              </a:rPr>
              <a:t>Gitlab</a:t>
            </a:r>
            <a:r>
              <a:rPr lang="es-PE" sz="1750" spc="-10" dirty="0">
                <a:solidFill>
                  <a:srgbClr val="747474"/>
                </a:solidFill>
                <a:latin typeface="Roboto"/>
                <a:cs typeface="Roboto"/>
              </a:rPr>
              <a:t>)</a:t>
            </a:r>
            <a:endParaRPr sz="1750" dirty="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69628" y="5334127"/>
            <a:ext cx="4212590" cy="15946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747474"/>
                </a:solidFill>
                <a:latin typeface="Courier New"/>
                <a:cs typeface="Courier New"/>
              </a:rPr>
              <a:t>CI/CD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Compatibilidad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con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herramientas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CI/CD</a:t>
            </a:r>
            <a:endParaRPr lang="es-PE" sz="1750" spc="-10" dirty="0">
              <a:solidFill>
                <a:srgbClr val="747474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10" dirty="0">
                <a:solidFill>
                  <a:srgbClr val="747474"/>
                </a:solidFill>
                <a:latin typeface="Roboto"/>
                <a:cs typeface="Roboto"/>
              </a:rPr>
              <a:t>.</a:t>
            </a:r>
            <a:r>
              <a:rPr lang="es-ES" sz="1750" spc="-10" dirty="0">
                <a:solidFill>
                  <a:srgbClr val="747474"/>
                </a:solidFill>
                <a:latin typeface="Roboto"/>
                <a:cs typeface="Roboto"/>
              </a:rPr>
              <a:t> Consiste en integrar constantemente el código que desarrollan los programadores.</a:t>
            </a:r>
            <a:endParaRPr sz="1750" dirty="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304" y="4673026"/>
            <a:ext cx="4187190" cy="32746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2090420">
              <a:lnSpc>
                <a:spcPct val="100000"/>
              </a:lnSpc>
              <a:spcBef>
                <a:spcPts val="95"/>
              </a:spcBef>
            </a:pPr>
            <a:r>
              <a:rPr sz="2200" spc="-65" dirty="0">
                <a:solidFill>
                  <a:srgbClr val="747474"/>
                </a:solidFill>
                <a:latin typeface="Courier New"/>
                <a:cs typeface="Courier New"/>
              </a:rPr>
              <a:t>Documentación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35" dirty="0">
                <a:solidFill>
                  <a:srgbClr val="747474"/>
                </a:solidFill>
                <a:latin typeface="Roboto"/>
                <a:cs typeface="Roboto"/>
              </a:rPr>
              <a:t>Generación</a:t>
            </a:r>
            <a:r>
              <a:rPr sz="17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30" dirty="0">
                <a:solidFill>
                  <a:srgbClr val="747474"/>
                </a:solidFill>
                <a:latin typeface="Roboto"/>
                <a:cs typeface="Roboto"/>
              </a:rPr>
              <a:t>automática</a:t>
            </a:r>
            <a:r>
              <a:rPr sz="17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750" spc="-7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750" spc="-20" dirty="0" err="1">
                <a:solidFill>
                  <a:srgbClr val="747474"/>
                </a:solidFill>
                <a:latin typeface="Roboto"/>
                <a:cs typeface="Roboto"/>
              </a:rPr>
              <a:t>documentación</a:t>
            </a:r>
            <a:r>
              <a:rPr sz="1750" spc="-20" dirty="0">
                <a:solidFill>
                  <a:srgbClr val="747474"/>
                </a:solidFill>
                <a:latin typeface="Roboto"/>
                <a:cs typeface="Roboto"/>
              </a:rPr>
              <a:t>.</a:t>
            </a:r>
            <a:endParaRPr lang="es-PE" sz="1750" spc="-20" dirty="0">
              <a:solidFill>
                <a:srgbClr val="747474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lang="es-PE" sz="1750" spc="-20" dirty="0">
                <a:solidFill>
                  <a:srgbClr val="747474"/>
                </a:solidFill>
                <a:latin typeface="Roboto"/>
                <a:cs typeface="Roboto"/>
              </a:rPr>
              <a:t>Genera Reportes sobre:</a:t>
            </a:r>
          </a:p>
          <a:p>
            <a:pPr marL="298450" indent="-285750">
              <a:lnSpc>
                <a:spcPct val="100000"/>
              </a:lnSpc>
              <a:spcBef>
                <a:spcPts val="1745"/>
              </a:spcBef>
              <a:buFont typeface="Arial" panose="020B0604020202020204" pitchFamily="34" charset="0"/>
              <a:buChar char="•"/>
            </a:pPr>
            <a:r>
              <a:rPr lang="es-PE" sz="1750" spc="-20" dirty="0">
                <a:solidFill>
                  <a:srgbClr val="747474"/>
                </a:solidFill>
                <a:latin typeface="Roboto"/>
                <a:cs typeface="Roboto"/>
              </a:rPr>
              <a:t>Proyecto</a:t>
            </a:r>
          </a:p>
          <a:p>
            <a:pPr marL="298450" indent="-285750">
              <a:lnSpc>
                <a:spcPct val="100000"/>
              </a:lnSpc>
              <a:spcBef>
                <a:spcPts val="1745"/>
              </a:spcBef>
              <a:buFont typeface="Arial" panose="020B0604020202020204" pitchFamily="34" charset="0"/>
              <a:buChar char="•"/>
            </a:pPr>
            <a:r>
              <a:rPr lang="es-PE" sz="1750" spc="-20" dirty="0" err="1">
                <a:solidFill>
                  <a:srgbClr val="747474"/>
                </a:solidFill>
                <a:latin typeface="Roboto"/>
                <a:cs typeface="Roboto"/>
              </a:rPr>
              <a:t>Dependecias</a:t>
            </a:r>
            <a:endParaRPr lang="es-PE" sz="1750" spc="-20" dirty="0">
              <a:solidFill>
                <a:srgbClr val="747474"/>
              </a:solidFill>
              <a:latin typeface="Roboto"/>
              <a:cs typeface="Roboto"/>
            </a:endParaRPr>
          </a:p>
          <a:p>
            <a:pPr marL="298450" indent="-285750">
              <a:lnSpc>
                <a:spcPct val="100000"/>
              </a:lnSpc>
              <a:spcBef>
                <a:spcPts val="1745"/>
              </a:spcBef>
              <a:buFont typeface="Arial" panose="020B0604020202020204" pitchFamily="34" charset="0"/>
              <a:buChar char="•"/>
            </a:pPr>
            <a:r>
              <a:rPr lang="es-PE" sz="1750" spc="-20" dirty="0">
                <a:solidFill>
                  <a:srgbClr val="747474"/>
                </a:solidFill>
                <a:latin typeface="Roboto"/>
                <a:cs typeface="Roboto"/>
              </a:rPr>
              <a:t>Pruebas</a:t>
            </a:r>
          </a:p>
          <a:p>
            <a:pPr marL="298450" indent="-285750">
              <a:lnSpc>
                <a:spcPct val="100000"/>
              </a:lnSpc>
              <a:spcBef>
                <a:spcPts val="1745"/>
              </a:spcBef>
              <a:buFont typeface="Arial" panose="020B0604020202020204" pitchFamily="34" charset="0"/>
              <a:buChar char="•"/>
            </a:pPr>
            <a:r>
              <a:rPr lang="es-PE" sz="1750" spc="-20" dirty="0">
                <a:solidFill>
                  <a:srgbClr val="747474"/>
                </a:solidFill>
                <a:latin typeface="Roboto"/>
                <a:cs typeface="Roboto"/>
              </a:rPr>
              <a:t>Calidad de </a:t>
            </a:r>
            <a:r>
              <a:rPr lang="es-PE" sz="1750" spc="-20" dirty="0" err="1">
                <a:solidFill>
                  <a:srgbClr val="747474"/>
                </a:solidFill>
                <a:latin typeface="Roboto"/>
                <a:cs typeface="Roboto"/>
              </a:rPr>
              <a:t>Codigo</a:t>
            </a:r>
            <a:endParaRPr sz="17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6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Mejores</a:t>
            </a:r>
            <a:r>
              <a:rPr spc="-550" dirty="0"/>
              <a:t> </a:t>
            </a:r>
            <a:r>
              <a:rPr spc="-105" dirty="0"/>
              <a:t>Prácticas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7389" y="2995053"/>
            <a:ext cx="1614042" cy="8079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50334" y="3338829"/>
            <a:ext cx="215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solidFill>
                  <a:srgbClr val="747474"/>
                </a:solidFill>
                <a:latin typeface="Courier New"/>
                <a:cs typeface="Courier New"/>
              </a:rPr>
              <a:t>1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075" y="3078224"/>
            <a:ext cx="8335265" cy="6892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5" dirty="0" err="1">
                <a:solidFill>
                  <a:srgbClr val="747474"/>
                </a:solidFill>
                <a:latin typeface="Courier New"/>
                <a:cs typeface="Courier New"/>
              </a:rPr>
              <a:t>Estándares</a:t>
            </a:r>
            <a:r>
              <a:rPr lang="es-PE" sz="2200" spc="-65" dirty="0">
                <a:solidFill>
                  <a:srgbClr val="747474"/>
                </a:solidFill>
                <a:latin typeface="Courier New"/>
                <a:cs typeface="Courier New"/>
              </a:rPr>
              <a:t>: Maven promueve una estructura estándar para todos los proyectos</a:t>
            </a:r>
            <a:endParaRPr sz="2200" dirty="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40432" y="3816096"/>
            <a:ext cx="11339830" cy="851535"/>
            <a:chOff x="2440432" y="3816096"/>
            <a:chExt cx="11339830" cy="851535"/>
          </a:xfrm>
        </p:grpSpPr>
        <p:sp>
          <p:nvSpPr>
            <p:cNvPr id="7" name="object 7"/>
            <p:cNvSpPr/>
            <p:nvPr/>
          </p:nvSpPr>
          <p:spPr>
            <a:xfrm>
              <a:off x="4918075" y="3816096"/>
              <a:ext cx="8862060" cy="15240"/>
            </a:xfrm>
            <a:custGeom>
              <a:avLst/>
              <a:gdLst/>
              <a:ahLst/>
              <a:cxnLst/>
              <a:rect l="l" t="t" r="r" b="b"/>
              <a:pathLst>
                <a:path w="8862060" h="15239">
                  <a:moveTo>
                    <a:pt x="8858504" y="0"/>
                  </a:moveTo>
                  <a:lnTo>
                    <a:pt x="3428" y="0"/>
                  </a:lnTo>
                  <a:lnTo>
                    <a:pt x="0" y="3428"/>
                  </a:lnTo>
                  <a:lnTo>
                    <a:pt x="0" y="7619"/>
                  </a:lnTo>
                  <a:lnTo>
                    <a:pt x="0" y="11811"/>
                  </a:lnTo>
                  <a:lnTo>
                    <a:pt x="3428" y="15239"/>
                  </a:lnTo>
                  <a:lnTo>
                    <a:pt x="8858504" y="15239"/>
                  </a:lnTo>
                  <a:lnTo>
                    <a:pt x="8861806" y="11811"/>
                  </a:lnTo>
                  <a:lnTo>
                    <a:pt x="8861806" y="3428"/>
                  </a:lnTo>
                  <a:lnTo>
                    <a:pt x="885850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0432" y="3859669"/>
              <a:ext cx="3227959" cy="80796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950334" y="4116451"/>
            <a:ext cx="215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solidFill>
                  <a:srgbClr val="747474"/>
                </a:solidFill>
                <a:latin typeface="Courier New"/>
                <a:cs typeface="Courier New"/>
              </a:rPr>
              <a:t>2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6673" y="3947966"/>
            <a:ext cx="8054974" cy="6892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5" dirty="0" err="1">
                <a:solidFill>
                  <a:srgbClr val="747474"/>
                </a:solidFill>
                <a:latin typeface="Courier New"/>
                <a:cs typeface="Courier New"/>
              </a:rPr>
              <a:t>Modularidad</a:t>
            </a:r>
            <a:r>
              <a:rPr lang="es-PE" sz="2200" spc="-65" dirty="0">
                <a:solidFill>
                  <a:srgbClr val="747474"/>
                </a:solidFill>
                <a:latin typeface="Courier New"/>
                <a:cs typeface="Courier New"/>
              </a:rPr>
              <a:t>: Consiste en dividir aplicaciones en </a:t>
            </a:r>
            <a:r>
              <a:rPr lang="es-PE" sz="2200" spc="-65" dirty="0" err="1">
                <a:solidFill>
                  <a:srgbClr val="747474"/>
                </a:solidFill>
                <a:latin typeface="Courier New"/>
                <a:cs typeface="Courier New"/>
              </a:rPr>
              <a:t>modulos</a:t>
            </a:r>
            <a:r>
              <a:rPr lang="es-PE" sz="2200" spc="-65" dirty="0">
                <a:solidFill>
                  <a:srgbClr val="747474"/>
                </a:solidFill>
                <a:latin typeface="Courier New"/>
                <a:cs typeface="Courier New"/>
              </a:rPr>
              <a:t>, mas pequeños</a:t>
            </a:r>
            <a:endParaRPr sz="2200" dirty="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3473" y="4680711"/>
            <a:ext cx="12146915" cy="851535"/>
            <a:chOff x="1633473" y="4680711"/>
            <a:chExt cx="12146915" cy="851535"/>
          </a:xfrm>
        </p:grpSpPr>
        <p:sp>
          <p:nvSpPr>
            <p:cNvPr id="12" name="object 12"/>
            <p:cNvSpPr/>
            <p:nvPr/>
          </p:nvSpPr>
          <p:spPr>
            <a:xfrm>
              <a:off x="5725159" y="4680711"/>
              <a:ext cx="8054975" cy="15240"/>
            </a:xfrm>
            <a:custGeom>
              <a:avLst/>
              <a:gdLst/>
              <a:ahLst/>
              <a:cxnLst/>
              <a:rect l="l" t="t" r="r" b="b"/>
              <a:pathLst>
                <a:path w="8054975" h="15239">
                  <a:moveTo>
                    <a:pt x="8051419" y="0"/>
                  </a:moveTo>
                  <a:lnTo>
                    <a:pt x="3428" y="0"/>
                  </a:lnTo>
                  <a:lnTo>
                    <a:pt x="0" y="3428"/>
                  </a:lnTo>
                  <a:lnTo>
                    <a:pt x="0" y="7620"/>
                  </a:lnTo>
                  <a:lnTo>
                    <a:pt x="0" y="11811"/>
                  </a:lnTo>
                  <a:lnTo>
                    <a:pt x="3428" y="15239"/>
                  </a:lnTo>
                  <a:lnTo>
                    <a:pt x="8051419" y="15239"/>
                  </a:lnTo>
                  <a:lnTo>
                    <a:pt x="8054721" y="11811"/>
                  </a:lnTo>
                  <a:lnTo>
                    <a:pt x="8054721" y="3428"/>
                  </a:lnTo>
                  <a:lnTo>
                    <a:pt x="805141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3473" y="4724285"/>
              <a:ext cx="4842002" cy="80796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950334" y="4981194"/>
            <a:ext cx="215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solidFill>
                  <a:srgbClr val="747474"/>
                </a:solidFill>
                <a:latin typeface="Courier New"/>
                <a:cs typeface="Courier New"/>
              </a:rPr>
              <a:t>3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90106" y="4927218"/>
            <a:ext cx="6797294" cy="6892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5" dirty="0" err="1">
                <a:solidFill>
                  <a:srgbClr val="747474"/>
                </a:solidFill>
                <a:latin typeface="Courier New"/>
                <a:cs typeface="Courier New"/>
              </a:rPr>
              <a:t>Dependencias</a:t>
            </a:r>
            <a:r>
              <a:rPr lang="es-PE" sz="2200" spc="-65" dirty="0">
                <a:solidFill>
                  <a:srgbClr val="747474"/>
                </a:solidFill>
                <a:latin typeface="Courier New"/>
                <a:cs typeface="Courier New"/>
              </a:rPr>
              <a:t>: Administrar correctamente las librerías del Proyecto</a:t>
            </a:r>
            <a:endParaRPr sz="2200" dirty="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6300" y="5545328"/>
            <a:ext cx="12954000" cy="851535"/>
            <a:chOff x="826300" y="5545328"/>
            <a:chExt cx="12954000" cy="851535"/>
          </a:xfrm>
        </p:grpSpPr>
        <p:sp>
          <p:nvSpPr>
            <p:cNvPr id="17" name="object 17"/>
            <p:cNvSpPr/>
            <p:nvPr/>
          </p:nvSpPr>
          <p:spPr>
            <a:xfrm>
              <a:off x="6532118" y="5545328"/>
              <a:ext cx="7247890" cy="15240"/>
            </a:xfrm>
            <a:custGeom>
              <a:avLst/>
              <a:gdLst/>
              <a:ahLst/>
              <a:cxnLst/>
              <a:rect l="l" t="t" r="r" b="b"/>
              <a:pathLst>
                <a:path w="7247890" h="15239">
                  <a:moveTo>
                    <a:pt x="7244460" y="0"/>
                  </a:moveTo>
                  <a:lnTo>
                    <a:pt x="3428" y="0"/>
                  </a:lnTo>
                  <a:lnTo>
                    <a:pt x="0" y="3429"/>
                  </a:lnTo>
                  <a:lnTo>
                    <a:pt x="0" y="7620"/>
                  </a:lnTo>
                  <a:lnTo>
                    <a:pt x="0" y="11811"/>
                  </a:lnTo>
                  <a:lnTo>
                    <a:pt x="3428" y="15240"/>
                  </a:lnTo>
                  <a:lnTo>
                    <a:pt x="7244460" y="15240"/>
                  </a:lnTo>
                  <a:lnTo>
                    <a:pt x="7247762" y="11811"/>
                  </a:lnTo>
                  <a:lnTo>
                    <a:pt x="7247762" y="3429"/>
                  </a:lnTo>
                  <a:lnTo>
                    <a:pt x="724446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300" y="5588901"/>
              <a:ext cx="6456172" cy="80796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950334" y="5846190"/>
            <a:ext cx="215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0" dirty="0">
                <a:solidFill>
                  <a:srgbClr val="747474"/>
                </a:solidFill>
                <a:latin typeface="Courier New"/>
                <a:cs typeface="Courier New"/>
              </a:rPr>
              <a:t>4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7318" y="5791961"/>
            <a:ext cx="5990082" cy="10278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0" dirty="0" err="1">
                <a:solidFill>
                  <a:srgbClr val="747474"/>
                </a:solidFill>
                <a:latin typeface="Courier New"/>
                <a:cs typeface="Courier New"/>
              </a:rPr>
              <a:t>Reproducibilidad</a:t>
            </a:r>
            <a:r>
              <a:rPr lang="es-PE" sz="2200" spc="-60" dirty="0">
                <a:solidFill>
                  <a:srgbClr val="747474"/>
                </a:solidFill>
                <a:latin typeface="Courier New"/>
                <a:cs typeface="Courier New"/>
              </a:rPr>
              <a:t>: Significa que el proyecto puede construirse de la misma forma en cualquier computadora.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3792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3592" y="2869183"/>
            <a:ext cx="324485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-114" dirty="0">
                <a:solidFill>
                  <a:srgbClr val="747474"/>
                </a:solidFill>
                <a:latin typeface="Courier New"/>
                <a:cs typeface="Courier New"/>
              </a:rPr>
              <a:t>Conclusiones</a:t>
            </a:r>
            <a:endParaRPr sz="37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729609" y="3710686"/>
            <a:ext cx="39878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50" dirty="0"/>
              <a:t>4</a:t>
            </a:r>
            <a:endParaRPr sz="4900"/>
          </a:p>
        </p:txBody>
      </p:sp>
      <p:sp>
        <p:nvSpPr>
          <p:cNvPr id="5" name="object 5"/>
          <p:cNvSpPr txBox="1"/>
          <p:nvPr/>
        </p:nvSpPr>
        <p:spPr>
          <a:xfrm>
            <a:off x="1828926" y="4716602"/>
            <a:ext cx="4182745" cy="296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747474"/>
                </a:solidFill>
                <a:latin typeface="Courier New"/>
                <a:cs typeface="Courier New"/>
              </a:rPr>
              <a:t>Esencial</a:t>
            </a:r>
            <a:endParaRPr sz="18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495"/>
              </a:spcBef>
            </a:pP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Maven</a:t>
            </a:r>
            <a:r>
              <a:rPr sz="14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747474"/>
                </a:solidFill>
                <a:latin typeface="Roboto"/>
                <a:cs typeface="Roboto"/>
              </a:rPr>
              <a:t>es</a:t>
            </a:r>
            <a:r>
              <a:rPr sz="1450" spc="-2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30" dirty="0">
                <a:solidFill>
                  <a:srgbClr val="747474"/>
                </a:solidFill>
                <a:latin typeface="Roboto"/>
                <a:cs typeface="Roboto"/>
              </a:rPr>
              <a:t>esencial</a:t>
            </a:r>
            <a:r>
              <a:rPr sz="14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para</a:t>
            </a:r>
            <a:r>
              <a:rPr sz="14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747474"/>
                </a:solidFill>
                <a:latin typeface="Roboto"/>
                <a:cs typeface="Roboto"/>
              </a:rPr>
              <a:t>el</a:t>
            </a: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30" dirty="0">
                <a:solidFill>
                  <a:srgbClr val="747474"/>
                </a:solidFill>
                <a:latin typeface="Roboto"/>
                <a:cs typeface="Roboto"/>
              </a:rPr>
              <a:t>desarrollo</a:t>
            </a:r>
            <a:r>
              <a:rPr sz="1450" spc="-6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20" dirty="0">
                <a:solidFill>
                  <a:srgbClr val="747474"/>
                </a:solidFill>
                <a:latin typeface="Roboto"/>
                <a:cs typeface="Roboto"/>
              </a:rPr>
              <a:t>Java</a:t>
            </a:r>
            <a:r>
              <a:rPr sz="1450" spc="-5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747474"/>
                </a:solidFill>
                <a:latin typeface="Roboto"/>
                <a:cs typeface="Roboto"/>
              </a:rPr>
              <a:t>moderno.</a:t>
            </a:r>
            <a:endParaRPr sz="1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4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50">
              <a:latin typeface="Roboto"/>
              <a:cs typeface="Roboto"/>
            </a:endParaRPr>
          </a:p>
          <a:p>
            <a:pPr marL="17145" algn="ctr">
              <a:lnSpc>
                <a:spcPct val="100000"/>
              </a:lnSpc>
              <a:spcBef>
                <a:spcPts val="5"/>
              </a:spcBef>
            </a:pPr>
            <a:r>
              <a:rPr sz="4900" spc="-50" dirty="0">
                <a:solidFill>
                  <a:srgbClr val="747474"/>
                </a:solidFill>
                <a:latin typeface="Courier New"/>
                <a:cs typeface="Courier New"/>
              </a:rPr>
              <a:t>2</a:t>
            </a:r>
            <a:endParaRPr sz="49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2045"/>
              </a:spcBef>
            </a:pPr>
            <a:r>
              <a:rPr sz="1850" spc="-10" dirty="0">
                <a:solidFill>
                  <a:srgbClr val="747474"/>
                </a:solidFill>
                <a:latin typeface="Courier New"/>
                <a:cs typeface="Courier New"/>
              </a:rPr>
              <a:t>Estandarización</a:t>
            </a:r>
            <a:endParaRPr sz="18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490"/>
              </a:spcBef>
            </a:pPr>
            <a:r>
              <a:rPr sz="1450" spc="-30" dirty="0">
                <a:solidFill>
                  <a:srgbClr val="747474"/>
                </a:solidFill>
                <a:latin typeface="Roboto"/>
                <a:cs typeface="Roboto"/>
              </a:rPr>
              <a:t>Estandariza</a:t>
            </a:r>
            <a:r>
              <a:rPr sz="14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30" dirty="0">
                <a:solidFill>
                  <a:srgbClr val="747474"/>
                </a:solidFill>
                <a:latin typeface="Roboto"/>
                <a:cs typeface="Roboto"/>
              </a:rPr>
              <a:t>proyectos,</a:t>
            </a: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30" dirty="0">
                <a:solidFill>
                  <a:srgbClr val="747474"/>
                </a:solidFill>
                <a:latin typeface="Roboto"/>
                <a:cs typeface="Roboto"/>
              </a:rPr>
              <a:t>facilitando</a:t>
            </a:r>
            <a:r>
              <a:rPr sz="14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747474"/>
                </a:solidFill>
                <a:latin typeface="Roboto"/>
                <a:cs typeface="Roboto"/>
              </a:rPr>
              <a:t>la</a:t>
            </a:r>
            <a:r>
              <a:rPr sz="1450" spc="-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747474"/>
                </a:solidFill>
                <a:latin typeface="Roboto"/>
                <a:cs typeface="Roboto"/>
              </a:rPr>
              <a:t>colaboración.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6175" y="3710686"/>
            <a:ext cx="3891279" cy="172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95"/>
              </a:spcBef>
            </a:pPr>
            <a:r>
              <a:rPr sz="4900" spc="-50" dirty="0">
                <a:solidFill>
                  <a:srgbClr val="747474"/>
                </a:solidFill>
                <a:latin typeface="Courier New"/>
                <a:cs typeface="Courier New"/>
              </a:rPr>
              <a:t>1</a:t>
            </a:r>
            <a:endParaRPr sz="49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2045"/>
              </a:spcBef>
            </a:pPr>
            <a:r>
              <a:rPr sz="1850" spc="-10" dirty="0">
                <a:solidFill>
                  <a:srgbClr val="747474"/>
                </a:solidFill>
                <a:latin typeface="Courier New"/>
                <a:cs typeface="Courier New"/>
              </a:rPr>
              <a:t>Automatización</a:t>
            </a:r>
            <a:endParaRPr sz="18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495"/>
              </a:spcBef>
            </a:pP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Automatiza</a:t>
            </a:r>
            <a:r>
              <a:rPr sz="14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procesos</a:t>
            </a:r>
            <a:r>
              <a:rPr sz="1450" spc="-3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450" spc="-1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35" dirty="0">
                <a:solidFill>
                  <a:srgbClr val="747474"/>
                </a:solidFill>
                <a:latin typeface="Roboto"/>
                <a:cs typeface="Roboto"/>
              </a:rPr>
              <a:t>construcción</a:t>
            </a:r>
            <a:r>
              <a:rPr sz="1450" spc="-4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747474"/>
                </a:solidFill>
                <a:latin typeface="Roboto"/>
                <a:cs typeface="Roboto"/>
              </a:rPr>
              <a:t>y</a:t>
            </a:r>
            <a:r>
              <a:rPr sz="1450" spc="-1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747474"/>
                </a:solidFill>
                <a:latin typeface="Roboto"/>
                <a:cs typeface="Roboto"/>
              </a:rPr>
              <a:t>gestión.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53982" y="5958916"/>
            <a:ext cx="3924300" cy="172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95"/>
              </a:spcBef>
            </a:pPr>
            <a:r>
              <a:rPr sz="4900" spc="-50" dirty="0">
                <a:solidFill>
                  <a:srgbClr val="747474"/>
                </a:solidFill>
                <a:latin typeface="Courier New"/>
                <a:cs typeface="Courier New"/>
              </a:rPr>
              <a:t>3</a:t>
            </a:r>
            <a:endParaRPr sz="49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2050"/>
              </a:spcBef>
            </a:pPr>
            <a:r>
              <a:rPr sz="1850" spc="-10" dirty="0">
                <a:solidFill>
                  <a:srgbClr val="747474"/>
                </a:solidFill>
                <a:latin typeface="Courier New"/>
                <a:cs typeface="Courier New"/>
              </a:rPr>
              <a:t>Productividad</a:t>
            </a:r>
            <a:endParaRPr sz="18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490"/>
              </a:spcBef>
            </a:pP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Mejora</a:t>
            </a:r>
            <a:r>
              <a:rPr sz="14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747474"/>
                </a:solidFill>
                <a:latin typeface="Roboto"/>
                <a:cs typeface="Roboto"/>
              </a:rPr>
              <a:t>la</a:t>
            </a:r>
            <a:r>
              <a:rPr sz="1450" spc="-1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35" dirty="0">
                <a:solidFill>
                  <a:srgbClr val="747474"/>
                </a:solidFill>
                <a:latin typeface="Roboto"/>
                <a:cs typeface="Roboto"/>
              </a:rPr>
              <a:t>productividad</a:t>
            </a:r>
            <a:r>
              <a:rPr sz="1450" spc="-6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747474"/>
                </a:solidFill>
                <a:latin typeface="Roboto"/>
                <a:cs typeface="Roboto"/>
              </a:rPr>
              <a:t>del</a:t>
            </a:r>
            <a:r>
              <a:rPr sz="1450" spc="-4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20" dirty="0">
                <a:solidFill>
                  <a:srgbClr val="747474"/>
                </a:solidFill>
                <a:latin typeface="Roboto"/>
                <a:cs typeface="Roboto"/>
              </a:rPr>
              <a:t>equipo</a:t>
            </a:r>
            <a:r>
              <a:rPr sz="1450" spc="-50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dirty="0">
                <a:solidFill>
                  <a:srgbClr val="747474"/>
                </a:solidFill>
                <a:latin typeface="Roboto"/>
                <a:cs typeface="Roboto"/>
              </a:rPr>
              <a:t>de</a:t>
            </a:r>
            <a:r>
              <a:rPr sz="1450" spc="-25" dirty="0">
                <a:solidFill>
                  <a:srgbClr val="747474"/>
                </a:solidFill>
                <a:latin typeface="Roboto"/>
                <a:cs typeface="Roboto"/>
              </a:rPr>
              <a:t> </a:t>
            </a:r>
            <a:r>
              <a:rPr sz="1450" spc="-10" dirty="0">
                <a:solidFill>
                  <a:srgbClr val="747474"/>
                </a:solidFill>
                <a:latin typeface="Roboto"/>
                <a:cs typeface="Roboto"/>
              </a:rPr>
              <a:t>desarrollo.</a:t>
            </a:r>
            <a:endParaRPr sz="14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5534" y="2486405"/>
            <a:ext cx="5706745" cy="2822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653</Words>
  <Application>Microsoft Office PowerPoint</Application>
  <PresentationFormat>Personalizado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Roboto</vt:lpstr>
      <vt:lpstr>Office Theme</vt:lpstr>
      <vt:lpstr>Presentación de PowerPoint</vt:lpstr>
      <vt:lpstr>¿Qué es Maven?</vt:lpstr>
      <vt:lpstr>Objetivos de Maven</vt:lpstr>
      <vt:lpstr>Arquitectura de Maven</vt:lpstr>
      <vt:lpstr>Arquitectura de Maven</vt:lpstr>
      <vt:lpstr>Ciclo de Vida de Construcción</vt:lpstr>
      <vt:lpstr>Gestión de Dependencias</vt:lpstr>
      <vt:lpstr>Presentación de PowerPoint</vt:lpstr>
      <vt:lpstr>Configuración y Personalización</vt:lpstr>
      <vt:lpstr>Integración con Herramientas</vt:lpstr>
      <vt:lpstr>Mejores Prácticas</vt:lpstr>
      <vt:lpstr>4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PC-5</dc:creator>
  <cp:lastModifiedBy>PC-5</cp:lastModifiedBy>
  <cp:revision>2</cp:revision>
  <dcterms:created xsi:type="dcterms:W3CDTF">2026-07-09T13:41:27Z</dcterms:created>
  <dcterms:modified xsi:type="dcterms:W3CDTF">2026-07-09T14:51:48Z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2026-07-09T00:00:00Z</vt:filetime>
  </property>
  <property fmtid="{D5CDD505-2E9C-101B-9397-08002B2CF9AE}" pid="4" name="LastSaved">
    <vt:filetime>2026-07-09T00:00:00Z</vt:filetime>
  </property>
  <property fmtid="{D5CDD505-2E9C-101B-9397-08002B2CF9AE}" pid="5" name="Producer">
    <vt:lpwstr>iLovePDF</vt:lpwstr>
  </property>
</Properties>
</file>